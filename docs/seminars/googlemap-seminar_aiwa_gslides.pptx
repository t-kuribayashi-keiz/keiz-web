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お集まりいただきありがとうございます。この30分は、Googleマップの難しい理論ではなく、院長先生ご自身が今日中に手を動かせる内容だけに絞ってお話しします。ゴールはひとつ、セミナーが終わったあと、ご自身でGoogleのお店ページを直せる状態になることです。扱うのは3つだけ、情報・写真・口コミ。この3本柱を順番に見ていきます。分からない言葉が出たら、その場でチャットに書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手を止めます。お手元のスマホで、ご自身の地域名に接骨院をつけて検索してみてください。いかがでしょうか。いちばん上に地図が出て、その下にお店が3つ並んでいるはずです。ご自身のホームページは、その下ですよね。つまり患者様は、ホームページを見るより先に、この画面で近隣の院と比べています。今日のテーマは、この最初の画面で選んでいただくための準備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マップなのか。整骨院は商圏がとても狭い業種だからです。週に何度も通いますから、患者様は行きやすさを最優先します。痛みが出てから慌てて探すので、じっくり比較もしません。結果として、遠くの評判より近くて通いやすい院が選ばれる。これは近くで探す仕組みであるGoogleマップと相性が最も良いということです。しかも掲載は無料。広告と違って、止めた瞬間に消えること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その画面で何を見られているか。大きく4つです。口コミ、写真、営業時間、そして距離や道順。どれもホームページを開かなくても、検索結果の中で確認できてしまいます。実際、ホームページまで見ない患者様は少なくありません。つまり、Googleのお店ページ自体がいまの入口になっているということです。ホームページを作り直す前に、まずこちらを整える。順番としては、こちらが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近は、この辺で腰痛を診てくれる接骨院はどこ、とAIに聞く方も増えてきました。ここで知っておいていただきたいのは、AIが答えるときに見ているのも、Googleに登録されている同じ情報だということです。ですから、AI向けに何か特別なことをする必要はありません。今日お話しする情報・写真・口コミを整えれば、患者様にもAIにもそのまま効きます。AIの話は、ここまで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ことをお伝えします。マップで選ばれるかどうかに効くのは、情報の正確さ、写真、口コミ、そして更新されているか。この4つです。よく見ていただきたいのですが、どれも外の業者が用意できるものではありません。施術の風景も、スタッフの雰囲気も、患者様への声かけも、院内からしか出てきません。だからこそ、院長先生ご自身が手を動かすのがいちばん早い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どのくらい手間がかかるのか。目安は月に30分です。その月に撮れた写真を1枚足す、たまった口コミにまとめて返信する、営業時間や休診日に変更がないか見る。これだけです。逆に言うと、一度やって終わりにすると、新しさの部分で他院に負けていきます。完璧にやる必要はまったくありません。止めないことのほうがずっと効きます。月末の事務作業と一緒に、30分だけ確保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本編、基本の3本柱です。ひとつ目は情報を正しく整えること。その最初の一歩がオーナー確認です。これは、そのお店ページを自分の院として管理できるようにする手続きで、ここが終わっていないと、この先お話しする内容はひとつも直せません。自院名で検索して、オーナーですかという表示が出たらタップし、ハガキや電話の案内に従うだけです。すでに誰かが管理している場合は、権限のリクエストが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は院名です。ここはシンプルで、正式名称だけにしてください。よくあるのが、腰痛、交通事故、骨盤矯正、駅前、といった言葉を院名の後ろにつけてしまうケースです。気持ちは分かるのですが、Googleが求めているのは実際に看板に出ている名前です。違う名前にしていると、勝手に直されたり、最悪ページごと使えなくなることがあります。上げるための小細工ではなく、正しく書く。これが結果的にいちばん強い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日いちばん大事なところです。カテゴリというのは、何のお店かをGoogleに伝える設定です。ここがズレていると、どれだけ写真や口コミを頑張っても、そもそも候補に入りません。メインカテゴリはひとつだけ、患者様が実際に使う言葉で選んでください。迷ったら、地図の上位に出ている近所の同業がどれを選んでいるか見るのが確実です。追加カテゴリは、実際にやっている施術だけに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けて、住所と電話です。ポイントは、ホームページと一字一句そろえること。番地のハイフンと丁目の書き方が違うだけでも、Googleは別の店舗かもしれないと判断します。電話も同じで、転送番号とホームページの番号が違うなら、どちらかにそろえてください。営業時間は、受付終了が早い院が多いので説明欄に書いておくと問い合わせが減ります。お盆や年末年始は、特別営業時間に事前に入れてお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本目の柱は写真です。凝った写真は要りません。まずはこの6枚をそろえてください。外観、入口、受付、施術スペース、スタッフ、そして駐車場です。特に抜けやすいのが入口と駐車場で、この2枚があるだけで、初めての方のたどり着けないが減ります。撮影はスマホで十分です。明るい時間に、横向きで、まっすぐ撮る。これだけ守ってください。今週中に、6枚そろえるところまでやり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写真をどう選ぶか、基準はひとつです。初めての患者様が、迷わないか。たどり着けるかという観点では、看板が分かる外観、入口のドア、駐車場の停め方。入ってみようと思えるかという観点では、明るさ、スタッフの顔、片づいているか。きれいに撮ることより、不安を消すことが目的です。ですから、よその写真やフリー素材は使わないでください。実物と違うと、来院されたときのがっかり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本目の柱、口コミです。患者様が見ているのは、星の数、件数、新しさ、そして返信があるかの4点です。意外と見落とされるのが新しさで、星が高くても最後の口コミが1年以上前だと、今もちゃんとやっているのかなと思われてしまいます。ですから、一気に数を集めるより、毎月少しずつでも途切れさせないほうが効きます。次のページで、具体的な声のかけ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コミは、待っていても増えません。お願いすることです。タイミングは、痛みが軽くなって患者様の表情がゆるんだ直後、楽になりましたと言っていただけたときです。文例はこちらをそのまま使ってください。同じ症状でお困りの方のために、という言い方にすると引き受けていただきやすくなります。ただし、割引や粗品と引き換えのお願い、口コミの購入は絶対にやめてください。削除されるうえ、院の評価も下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返信です。これは全件にお願いします。コツは、その方が書いていた言葉をひとつ拾って入れること。同じ文面のコピーは、読む側にはすぐ分かってしまいます。難しいのが低い評価ですが、ここで反論すると必ず損をします。謝る、直した点を書く、次につなげる。この順番です。返信は、書いた方に向けてというより、これから読む患者様に向けて書くもの。誠実な返信は、低い評価そのものより信頼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今日お話ししたことのうち、明日やっていただきたいのは3つだけです。ひとつ目、オーナー確認ができているかを確かめる。ここが終わっていないと何も直せません。ふたつ目、写真を6枚そろえる。外観、入口、受付、施術スペース、スタッフ、駐車場です。3つ目、口コミの声かけを、まずおひとりに試す。全部やろうとすると必ず止まりますので、上から順に、ひとつずつ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ご案内です。今日の内容を上から順にたどれるチェックリストをお配りします。時間の都合でふれられなかった、お知らせ機能の使い方、閲覧数の見方、月ごとの進め方、メニューや料金の載せ方も、こちらに書いてあります。そのうえで、ご自身の院のページを一緒に見てほしいという方には、無料の個別相談をご用意しています。このあとのアンケートで、個別相談を希望するにチェックを入れてください。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45"/>
        </a:solidFill>
        <a:effectLst/>
      </p:bgPr>
    </p:bg>
    <p:spTree>
      <p:nvGrpSpPr>
        <p:cNvPr id="1" name=""/>
        <p:cNvGrpSpPr/>
        <p:nvPr/>
      </p:nvGrpSpPr>
      <p:grpSpPr/>
      <p:sp>
        <p:nvSpPr>
          <p:cNvPr id="2" name="Rounded Rectangle 1"/>
          <p:cNvSpPr/>
          <p:nvPr/>
        </p:nvSpPr>
        <p:spPr>
          <a:xfrm>
            <a:off x="658368" y="786384"/>
            <a:ext cx="4078224" cy="329184"/>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850392"/>
            <a:ext cx="4078224" cy="274320"/>
          </a:xfrm>
          <a:prstGeom prst="rect">
            <a:avLst/>
          </a:prstGeom>
          <a:noFill/>
        </p:spPr>
        <p:txBody>
          <a:bodyPr wrap="square" lIns="0" rIns="0" tIns="0" bIns="0" anchor="t">
            <a:spAutoFit/>
          </a:bodyPr>
          <a:lstStyle/>
          <a:p>
            <a:pPr algn="ctr" eaLnBrk="1" hangingPunct="1">
              <a:lnSpc>
                <a:spcPct val="100000"/>
              </a:lnSpc>
            </a:pPr>
            <a:r>
              <a:rPr sz="1200" b="1" lang="ja-JP">
                <a:solidFill>
                  <a:srgbClr val="FFFFFF"/>
                </a:solidFill>
                <a:latin typeface="Noto Sans JP"/>
                <a:ea typeface="Noto Sans JP"/>
                <a:cs typeface="Noto Sans JP"/>
              </a:rPr>
              <a:t>アイワ接骨師会　オンラインセミナー（30分）</a:t>
            </a:r>
          </a:p>
        </p:txBody>
      </p:sp>
      <p:sp>
        <p:nvSpPr>
          <p:cNvPr id="4" name="TextBox 3"/>
          <p:cNvSpPr txBox="1"/>
          <p:nvPr/>
        </p:nvSpPr>
        <p:spPr>
          <a:xfrm>
            <a:off x="658368" y="1481328"/>
            <a:ext cx="10874959" cy="640080"/>
          </a:xfrm>
          <a:prstGeom prst="rect">
            <a:avLst/>
          </a:prstGeom>
          <a:noFill/>
        </p:spPr>
        <p:txBody>
          <a:bodyPr wrap="square" lIns="0" rIns="0" tIns="0" bIns="0" anchor="t">
            <a:spAutoFit/>
          </a:bodyPr>
          <a:lstStyle/>
          <a:p>
            <a:pPr algn="l" eaLnBrk="1" hangingPunct="1">
              <a:lnSpc>
                <a:spcPct val="120000"/>
              </a:lnSpc>
            </a:pPr>
            <a:r>
              <a:rPr sz="2700" b="1" lang="ja-JP">
                <a:solidFill>
                  <a:srgbClr val="FFC20E"/>
                </a:solidFill>
                <a:latin typeface="Noto Sans JP"/>
                <a:ea typeface="Noto Sans JP"/>
                <a:cs typeface="Noto Sans JP"/>
              </a:rPr>
              <a:t>患者様にも、AIにも選ばれる！</a:t>
            </a:r>
          </a:p>
        </p:txBody>
      </p:sp>
      <p:sp>
        <p:nvSpPr>
          <p:cNvPr id="5" name="TextBox 4"/>
          <p:cNvSpPr txBox="1"/>
          <p:nvPr/>
        </p:nvSpPr>
        <p:spPr>
          <a:xfrm>
            <a:off x="658368" y="2130552"/>
            <a:ext cx="10874959" cy="1371600"/>
          </a:xfrm>
          <a:prstGeom prst="rect">
            <a:avLst/>
          </a:prstGeom>
          <a:noFill/>
        </p:spPr>
        <p:txBody>
          <a:bodyPr wrap="square" lIns="0" rIns="0" tIns="0" bIns="0" anchor="t">
            <a:spAutoFit/>
          </a:bodyPr>
          <a:lstStyle/>
          <a:p>
            <a:pPr algn="l" eaLnBrk="1" hangingPunct="1">
              <a:lnSpc>
                <a:spcPct val="116000"/>
              </a:lnSpc>
            </a:pPr>
            <a:r>
              <a:rPr sz="4600" b="1" lang="ja-JP">
                <a:solidFill>
                  <a:srgbClr val="FFFFFF"/>
                </a:solidFill>
                <a:latin typeface="Noto Sans JP"/>
                <a:ea typeface="Noto Sans JP"/>
                <a:cs typeface="Noto Sans JP"/>
              </a:rPr>
              <a:t>Googleマップの</a:t>
            </a:r>
          </a:p>
          <a:p>
            <a:pPr algn="l" eaLnBrk="1" hangingPunct="1">
              <a:lnSpc>
                <a:spcPct val="116000"/>
              </a:lnSpc>
            </a:pPr>
            <a:r>
              <a:rPr sz="4600" b="1" lang="ja-JP">
                <a:solidFill>
                  <a:srgbClr val="FFFFFF"/>
                </a:solidFill>
                <a:latin typeface="Noto Sans JP"/>
                <a:ea typeface="Noto Sans JP"/>
                <a:cs typeface="Noto Sans JP"/>
              </a:rPr>
              <a:t>設定・対策 基本講座</a:t>
            </a:r>
          </a:p>
        </p:txBody>
      </p:sp>
      <p:sp>
        <p:nvSpPr>
          <p:cNvPr id="6" name="Rounded Rectangle 5"/>
          <p:cNvSpPr/>
          <p:nvPr/>
        </p:nvSpPr>
        <p:spPr>
          <a:xfrm>
            <a:off x="658368" y="4114800"/>
            <a:ext cx="10874959" cy="1024128"/>
          </a:xfrm>
          <a:prstGeom prst="roundRect">
            <a:avLst>
              <a:gd name="adj" fmla="val 9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400" b="1" lang="ja-JP">
                <a:solidFill>
                  <a:srgbClr val="FFC20E"/>
                </a:solidFill>
                <a:latin typeface="Noto Sans JP"/>
                <a:ea typeface="Noto Sans JP"/>
                <a:cs typeface="Noto Sans JP"/>
              </a:rPr>
              <a:t>本日のゴール　</a:t>
            </a:r>
          </a:p>
          <a:p>
            <a:pPr algn="l" eaLnBrk="1" hangingPunct="1">
              <a:lnSpc>
                <a:spcPct val="130000"/>
              </a:lnSpc>
            </a:pPr>
            <a:r>
              <a:rPr sz="1700" b="1" lang="ja-JP">
                <a:solidFill>
                  <a:srgbClr val="FFFFFF"/>
                </a:solidFill>
                <a:latin typeface="Noto Sans JP"/>
                <a:ea typeface="Noto Sans JP"/>
                <a:cs typeface="Noto Sans JP"/>
              </a:rPr>
              <a:t>このあと、院長ご自身で「Googleのお店ページ」を直せる状態になること。</a:t>
            </a:r>
          </a:p>
        </p:txBody>
      </p:sp>
      <p:sp>
        <p:nvSpPr>
          <p:cNvPr id="7" name="Rounded Rectangle 6"/>
          <p:cNvSpPr/>
          <p:nvPr/>
        </p:nvSpPr>
        <p:spPr>
          <a:xfrm>
            <a:off x="658368" y="5376672"/>
            <a:ext cx="3410712" cy="640080"/>
          </a:xfrm>
          <a:prstGeom prst="roundRect">
            <a:avLst>
              <a:gd name="adj" fmla="val 1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00000"/>
              </a:lnSpc>
            </a:pPr>
            <a:r>
              <a:rPr sz="800" b="0" lang="ja-JP">
                <a:solidFill>
                  <a:srgbClr val="1F2735"/>
                </a:solidFill>
                <a:latin typeface="Noto Sans JP"/>
                <a:ea typeface="Noto Sans JP"/>
                <a:cs typeface="Noto Sans JP"/>
              </a:rPr>
              <a:t/>
            </a:r>
          </a:p>
        </p:txBody>
      </p:sp>
      <p:sp>
        <p:nvSpPr>
          <p:cNvPr id="8" name="Oval 7"/>
          <p:cNvSpPr/>
          <p:nvPr/>
        </p:nvSpPr>
        <p:spPr>
          <a:xfrm>
            <a:off x="914400" y="5504688"/>
            <a:ext cx="384048" cy="38404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102445"/>
                </a:solidFill>
                <a:latin typeface="Noto Sans JP"/>
                <a:ea typeface="Noto Sans JP"/>
                <a:cs typeface="Noto Sans JP"/>
              </a:rPr>
              <a:t>①</a:t>
            </a:r>
          </a:p>
        </p:txBody>
      </p:sp>
      <p:sp>
        <p:nvSpPr>
          <p:cNvPr id="9" name="TextBox 8"/>
          <p:cNvSpPr txBox="1"/>
          <p:nvPr/>
        </p:nvSpPr>
        <p:spPr>
          <a:xfrm>
            <a:off x="1444752" y="5532120"/>
            <a:ext cx="2377440" cy="365760"/>
          </a:xfrm>
          <a:prstGeom prst="rect">
            <a:avLst/>
          </a:prstGeom>
          <a:noFill/>
        </p:spPr>
        <p:txBody>
          <a:bodyPr wrap="square" lIns="0" rIns="0" tIns="0" bIns="0" anchor="t">
            <a:spAutoFit/>
          </a:bodyPr>
          <a:lstStyle/>
          <a:p>
            <a:pPr algn="l" eaLnBrk="1" hangingPunct="1">
              <a:lnSpc>
                <a:spcPct val="120000"/>
              </a:lnSpc>
            </a:pPr>
            <a:r>
              <a:rPr sz="1400" b="1" lang="ja-JP">
                <a:solidFill>
                  <a:srgbClr val="FFFFFF"/>
                </a:solidFill>
                <a:latin typeface="Noto Sans JP"/>
                <a:ea typeface="Noto Sans JP"/>
                <a:cs typeface="Noto Sans JP"/>
              </a:rPr>
              <a:t>情報を整える</a:t>
            </a:r>
          </a:p>
        </p:txBody>
      </p:sp>
      <p:sp>
        <p:nvSpPr>
          <p:cNvPr id="10" name="Rounded Rectangle 9"/>
          <p:cNvSpPr/>
          <p:nvPr/>
        </p:nvSpPr>
        <p:spPr>
          <a:xfrm>
            <a:off x="4334255" y="5376672"/>
            <a:ext cx="3410712" cy="640080"/>
          </a:xfrm>
          <a:prstGeom prst="roundRect">
            <a:avLst>
              <a:gd name="adj" fmla="val 1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00000"/>
              </a:lnSpc>
            </a:pPr>
            <a:r>
              <a:rPr sz="800" b="0" lang="ja-JP">
                <a:solidFill>
                  <a:srgbClr val="1F2735"/>
                </a:solidFill>
                <a:latin typeface="Noto Sans JP"/>
                <a:ea typeface="Noto Sans JP"/>
                <a:cs typeface="Noto Sans JP"/>
              </a:rPr>
              <a:t/>
            </a:r>
          </a:p>
        </p:txBody>
      </p:sp>
      <p:sp>
        <p:nvSpPr>
          <p:cNvPr id="11" name="Oval 10"/>
          <p:cNvSpPr/>
          <p:nvPr/>
        </p:nvSpPr>
        <p:spPr>
          <a:xfrm>
            <a:off x="4590288" y="5504688"/>
            <a:ext cx="384048" cy="38404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102445"/>
                </a:solidFill>
                <a:latin typeface="Noto Sans JP"/>
                <a:ea typeface="Noto Sans JP"/>
                <a:cs typeface="Noto Sans JP"/>
              </a:rPr>
              <a:t>②</a:t>
            </a:r>
          </a:p>
        </p:txBody>
      </p:sp>
      <p:sp>
        <p:nvSpPr>
          <p:cNvPr id="12" name="TextBox 11"/>
          <p:cNvSpPr txBox="1"/>
          <p:nvPr/>
        </p:nvSpPr>
        <p:spPr>
          <a:xfrm>
            <a:off x="5120640" y="5532120"/>
            <a:ext cx="2377440" cy="365760"/>
          </a:xfrm>
          <a:prstGeom prst="rect">
            <a:avLst/>
          </a:prstGeom>
          <a:noFill/>
        </p:spPr>
        <p:txBody>
          <a:bodyPr wrap="square" lIns="0" rIns="0" tIns="0" bIns="0" anchor="t">
            <a:spAutoFit/>
          </a:bodyPr>
          <a:lstStyle/>
          <a:p>
            <a:pPr algn="l" eaLnBrk="1" hangingPunct="1">
              <a:lnSpc>
                <a:spcPct val="120000"/>
              </a:lnSpc>
            </a:pPr>
            <a:r>
              <a:rPr sz="1400" b="1" lang="ja-JP">
                <a:solidFill>
                  <a:srgbClr val="FFFFFF"/>
                </a:solidFill>
                <a:latin typeface="Noto Sans JP"/>
                <a:ea typeface="Noto Sans JP"/>
                <a:cs typeface="Noto Sans JP"/>
              </a:rPr>
              <a:t>写真</a:t>
            </a:r>
          </a:p>
        </p:txBody>
      </p:sp>
      <p:sp>
        <p:nvSpPr>
          <p:cNvPr id="13" name="Rounded Rectangle 12"/>
          <p:cNvSpPr/>
          <p:nvPr/>
        </p:nvSpPr>
        <p:spPr>
          <a:xfrm>
            <a:off x="8010144" y="5376672"/>
            <a:ext cx="3410712" cy="640080"/>
          </a:xfrm>
          <a:prstGeom prst="roundRect">
            <a:avLst>
              <a:gd name="adj" fmla="val 1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00000"/>
              </a:lnSpc>
            </a:pPr>
            <a:r>
              <a:rPr sz="800" b="0" lang="ja-JP">
                <a:solidFill>
                  <a:srgbClr val="1F2735"/>
                </a:solidFill>
                <a:latin typeface="Noto Sans JP"/>
                <a:ea typeface="Noto Sans JP"/>
                <a:cs typeface="Noto Sans JP"/>
              </a:rPr>
              <a:t/>
            </a:r>
          </a:p>
        </p:txBody>
      </p:sp>
      <p:sp>
        <p:nvSpPr>
          <p:cNvPr id="14" name="Oval 13"/>
          <p:cNvSpPr/>
          <p:nvPr/>
        </p:nvSpPr>
        <p:spPr>
          <a:xfrm>
            <a:off x="8266175" y="5504688"/>
            <a:ext cx="384048" cy="38404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102445"/>
                </a:solidFill>
                <a:latin typeface="Noto Sans JP"/>
                <a:ea typeface="Noto Sans JP"/>
                <a:cs typeface="Noto Sans JP"/>
              </a:rPr>
              <a:t>③</a:t>
            </a:r>
          </a:p>
        </p:txBody>
      </p:sp>
      <p:sp>
        <p:nvSpPr>
          <p:cNvPr id="15" name="TextBox 14"/>
          <p:cNvSpPr txBox="1"/>
          <p:nvPr/>
        </p:nvSpPr>
        <p:spPr>
          <a:xfrm>
            <a:off x="8796528" y="5532120"/>
            <a:ext cx="2377440" cy="365760"/>
          </a:xfrm>
          <a:prstGeom prst="rect">
            <a:avLst/>
          </a:prstGeom>
          <a:noFill/>
        </p:spPr>
        <p:txBody>
          <a:bodyPr wrap="square" lIns="0" rIns="0" tIns="0" bIns="0" anchor="t">
            <a:spAutoFit/>
          </a:bodyPr>
          <a:lstStyle/>
          <a:p>
            <a:pPr algn="l" eaLnBrk="1" hangingPunct="1">
              <a:lnSpc>
                <a:spcPct val="120000"/>
              </a:lnSpc>
            </a:pPr>
            <a:r>
              <a:rPr sz="1400" b="1" lang="ja-JP">
                <a:solidFill>
                  <a:srgbClr val="FFFFFF"/>
                </a:solidFill>
                <a:latin typeface="Noto Sans JP"/>
                <a:ea typeface="Noto Sans JP"/>
                <a:cs typeface="Noto Sans JP"/>
              </a:rPr>
              <a:t>口コミ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いま、スマホで検索してみてください</a:t>
            </a:r>
          </a:p>
        </p:txBody>
      </p:sp>
      <p:sp>
        <p:nvSpPr>
          <p:cNvPr id="3" name="TextBox 2"/>
          <p:cNvSpPr txBox="1"/>
          <p:nvPr/>
        </p:nvSpPr>
        <p:spPr>
          <a:xfrm>
            <a:off x="658368" y="994664"/>
            <a:ext cx="10874959" cy="365760"/>
          </a:xfrm>
          <a:prstGeom prst="rect">
            <a:avLst/>
          </a:prstGeom>
          <a:noFill/>
        </p:spPr>
        <p:txBody>
          <a:bodyPr wrap="square" lIns="0" rIns="0" tIns="0" bIns="0" anchor="t">
            <a:spAutoFit/>
          </a:bodyPr>
          <a:lstStyle/>
          <a:p>
            <a:pPr algn="l" eaLnBrk="1" hangingPunct="1">
              <a:lnSpc>
                <a:spcPct val="125000"/>
              </a:lnSpc>
            </a:pPr>
            <a:r>
              <a:rPr sz="1400" b="0" lang="ja-JP">
                <a:solidFill>
                  <a:srgbClr val="6B7587"/>
                </a:solidFill>
                <a:latin typeface="Noto Sans JP"/>
                <a:ea typeface="Noto Sans JP"/>
                <a:cs typeface="Noto Sans JP"/>
              </a:rPr>
              <a:t>体験ワーク（30秒）　スマホを手に取ってください</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2</a:t>
            </a:r>
          </a:p>
        </p:txBody>
      </p:sp>
      <p:sp>
        <p:nvSpPr>
          <p:cNvPr id="5" name="Rounded Rectangle 4"/>
          <p:cNvSpPr/>
          <p:nvPr/>
        </p:nvSpPr>
        <p:spPr>
          <a:xfrm>
            <a:off x="658368" y="2066543"/>
            <a:ext cx="5852160" cy="1078992"/>
          </a:xfrm>
          <a:prstGeom prst="roundRect">
            <a:avLst>
              <a:gd name="adj" fmla="val 9000"/>
            </a:avLst>
          </a:prstGeom>
          <a:solidFill>
            <a:srgbClr val="FFFFFF"/>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ctr" eaLnBrk="1" hangingPunct="1">
              <a:lnSpc>
                <a:spcPct val="120000"/>
              </a:lnSpc>
            </a:pPr>
            <a:r>
              <a:rPr sz="3000" b="1" lang="ja-JP">
                <a:solidFill>
                  <a:srgbClr val="1B3A6B"/>
                </a:solidFill>
                <a:latin typeface="Noto Sans JP"/>
                <a:ea typeface="Noto Sans JP"/>
                <a:cs typeface="Noto Sans JP"/>
              </a:rPr>
              <a:t>〇〇市　接骨院</a:t>
            </a:r>
          </a:p>
        </p:txBody>
      </p:sp>
      <p:sp>
        <p:nvSpPr>
          <p:cNvPr id="6" name="TextBox 5"/>
          <p:cNvSpPr txBox="1"/>
          <p:nvPr/>
        </p:nvSpPr>
        <p:spPr>
          <a:xfrm>
            <a:off x="658368" y="3255264"/>
            <a:ext cx="5852160" cy="320040"/>
          </a:xfrm>
          <a:prstGeom prst="rect">
            <a:avLst/>
          </a:prstGeom>
          <a:noFill/>
        </p:spPr>
        <p:txBody>
          <a:bodyPr wrap="square" lIns="0" rIns="0" tIns="0" bIns="0" anchor="t">
            <a:spAutoFit/>
          </a:bodyPr>
          <a:lstStyle/>
          <a:p>
            <a:pPr algn="l" eaLnBrk="1" hangingPunct="1">
              <a:lnSpc>
                <a:spcPct val="120000"/>
              </a:lnSpc>
            </a:pPr>
            <a:r>
              <a:rPr sz="1300" b="0" lang="ja-JP">
                <a:solidFill>
                  <a:srgbClr val="6B7587"/>
                </a:solidFill>
                <a:latin typeface="Noto Sans JP"/>
                <a:ea typeface="Noto Sans JP"/>
                <a:cs typeface="Noto Sans JP"/>
              </a:rPr>
              <a:t>「〇〇」はご自身の地域名・最寄り駅名を入れてください。</a:t>
            </a:r>
          </a:p>
        </p:txBody>
      </p:sp>
      <p:sp>
        <p:nvSpPr>
          <p:cNvPr id="7" name="Rounded Rectangle 6"/>
          <p:cNvSpPr/>
          <p:nvPr/>
        </p:nvSpPr>
        <p:spPr>
          <a:xfrm>
            <a:off x="658368" y="3767328"/>
            <a:ext cx="5852160" cy="1225296"/>
          </a:xfrm>
          <a:prstGeom prst="roundRect">
            <a:avLst>
              <a:gd name="adj" fmla="val 9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30000"/>
              </a:lnSpc>
              <a:spcAft>
                <a:spcPts val="200"/>
              </a:spcAft>
            </a:pPr>
            <a:r>
              <a:rPr sz="1900" b="1" lang="ja-JP">
                <a:solidFill>
                  <a:srgbClr val="1F2735"/>
                </a:solidFill>
                <a:latin typeface="Noto Sans JP"/>
                <a:ea typeface="Noto Sans JP"/>
                <a:cs typeface="Noto Sans JP"/>
              </a:rPr>
              <a:t>地図と3院が、</a:t>
            </a:r>
          </a:p>
          <a:p>
            <a:pPr algn="l" eaLnBrk="1" hangingPunct="1">
              <a:lnSpc>
                <a:spcPct val="130000"/>
              </a:lnSpc>
            </a:pPr>
            <a:r>
              <a:rPr sz="1900" b="1" lang="ja-JP">
                <a:solidFill>
                  <a:srgbClr val="E8380D"/>
                </a:solidFill>
                <a:latin typeface="Noto Sans JP"/>
                <a:ea typeface="Noto Sans JP"/>
                <a:cs typeface="Noto Sans JP"/>
              </a:rPr>
              <a:t>ホームページより先に</a:t>
            </a:r>
            <a:r>
              <a:rPr sz="1900" b="1" lang="ja-JP">
                <a:solidFill>
                  <a:srgbClr val="1F2735"/>
                </a:solidFill>
                <a:latin typeface="Noto Sans JP"/>
                <a:ea typeface="Noto Sans JP"/>
                <a:cs typeface="Noto Sans JP"/>
              </a:rPr>
              <a:t>出てきませんか？</a:t>
            </a:r>
          </a:p>
        </p:txBody>
      </p:sp>
      <p:sp>
        <p:nvSpPr>
          <p:cNvPr id="8" name="TextBox 7"/>
          <p:cNvSpPr txBox="1"/>
          <p:nvPr/>
        </p:nvSpPr>
        <p:spPr>
          <a:xfrm>
            <a:off x="658368" y="5230368"/>
            <a:ext cx="5852160" cy="914400"/>
          </a:xfrm>
          <a:prstGeom prst="rect">
            <a:avLst/>
          </a:prstGeom>
          <a:noFill/>
        </p:spPr>
        <p:txBody>
          <a:bodyPr wrap="square" lIns="0" rIns="0" tIns="0" bIns="0" anchor="t">
            <a:spAutoFit/>
          </a:bodyPr>
          <a:lstStyle/>
          <a:p>
            <a:pPr algn="l" eaLnBrk="1" hangingPunct="1">
              <a:lnSpc>
                <a:spcPct val="135000"/>
              </a:lnSpc>
              <a:spcAft>
                <a:spcPts val="200"/>
              </a:spcAft>
            </a:pPr>
            <a:r>
              <a:rPr sz="1500" b="1" lang="ja-JP">
                <a:solidFill>
                  <a:srgbClr val="1B3A6B"/>
                </a:solidFill>
                <a:latin typeface="Noto Sans JP"/>
                <a:ea typeface="Noto Sans JP"/>
                <a:cs typeface="Noto Sans JP"/>
              </a:rPr>
              <a:t>患者様は、ホームページにたどり着く前に、</a:t>
            </a:r>
          </a:p>
          <a:p>
            <a:pPr algn="l" eaLnBrk="1" hangingPunct="1">
              <a:lnSpc>
                <a:spcPct val="135000"/>
              </a:lnSpc>
            </a:pPr>
            <a:r>
              <a:rPr sz="1500" b="1" lang="ja-JP">
                <a:solidFill>
                  <a:srgbClr val="1B3A6B"/>
                </a:solidFill>
                <a:latin typeface="Noto Sans JP"/>
                <a:ea typeface="Noto Sans JP"/>
                <a:cs typeface="Noto Sans JP"/>
              </a:rPr>
              <a:t>この画面で比べています。</a:t>
            </a:r>
          </a:p>
        </p:txBody>
      </p:sp>
      <p:sp>
        <p:nvSpPr>
          <p:cNvPr id="9" name="Rounded Rectangle 8"/>
          <p:cNvSpPr/>
          <p:nvPr/>
        </p:nvSpPr>
        <p:spPr>
          <a:xfrm>
            <a:off x="6894576" y="1572768"/>
            <a:ext cx="4636008" cy="4480560"/>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Noto Sans JP"/>
                <a:ea typeface="Noto Sans JP"/>
                <a:cs typeface="Noto Sans JP"/>
              </a:rPr>
              <a:t>［画像］</a:t>
            </a:r>
          </a:p>
          <a:p>
            <a:pPr algn="ctr" eaLnBrk="1" hangingPunct="1">
              <a:lnSpc>
                <a:spcPct val="130000"/>
              </a:lnSpc>
            </a:pPr>
            <a:r>
              <a:rPr sz="1200" b="1" lang="ja-JP">
                <a:solidFill>
                  <a:srgbClr val="1B3A6B"/>
                </a:solidFill>
                <a:latin typeface="Noto Sans JP"/>
                <a:ea typeface="Noto Sans JP"/>
                <a:cs typeface="Noto Sans JP"/>
              </a:rPr>
              <a:t>スマホ検索結果の画面キャプチャ</a:t>
            </a:r>
          </a:p>
          <a:p>
            <a:pPr algn="ctr" eaLnBrk="1" hangingPunct="1">
              <a:lnSpc>
                <a:spcPct val="130000"/>
              </a:lnSpc>
            </a:pPr>
            <a:r>
              <a:rPr sz="1000" b="0" lang="ja-JP">
                <a:solidFill>
                  <a:srgbClr val="6B7587"/>
                </a:solidFill>
                <a:latin typeface="Noto Sans JP"/>
                <a:ea typeface="Noto Sans JP"/>
                <a:cs typeface="Noto Sans JP"/>
              </a:rPr>
              <a:t>「地域名＋接骨院」で検索した画面／地図と3院が最上部に出ている状態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340156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Part1　なぜGoogleマップが重要か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整骨院は「近くで探される」業種です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3</a:t>
            </a:r>
          </a:p>
        </p:txBody>
      </p:sp>
      <p:sp>
        <p:nvSpPr>
          <p:cNvPr id="5" name="Rounded Rectangle 4"/>
          <p:cNvSpPr/>
          <p:nvPr/>
        </p:nvSpPr>
        <p:spPr>
          <a:xfrm>
            <a:off x="658368" y="1975104"/>
            <a:ext cx="3410712" cy="219456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97510" bIns="197510"/>
          <a:lstStyle/>
          <a:p>
            <a:pPr algn="l" eaLnBrk="1" hangingPunct="1">
              <a:lnSpc>
                <a:spcPct val="100000"/>
              </a:lnSpc>
              <a:spcAft>
                <a:spcPts val="24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800" b="1" lang="ja-JP">
                <a:solidFill>
                  <a:srgbClr val="1B3A6B"/>
                </a:solidFill>
                <a:latin typeface="Noto Sans JP"/>
                <a:ea typeface="Noto Sans JP"/>
                <a:cs typeface="Noto Sans JP"/>
              </a:rPr>
              <a:t>通う回数が多い</a:t>
            </a:r>
          </a:p>
          <a:p>
            <a:pPr algn="l" eaLnBrk="1" hangingPunct="1">
              <a:lnSpc>
                <a:spcPct val="140000"/>
              </a:lnSpc>
            </a:pPr>
            <a:r>
              <a:rPr sz="1400" b="0" lang="ja-JP">
                <a:solidFill>
                  <a:srgbClr val="1F2735"/>
                </a:solidFill>
                <a:latin typeface="Noto Sans JP"/>
                <a:ea typeface="Noto Sans JP"/>
                <a:cs typeface="Noto Sans JP"/>
              </a:rPr>
              <a:t>週に何度も通うので、行きやすさが最優先になります。</a:t>
            </a:r>
          </a:p>
        </p:txBody>
      </p:sp>
      <p:sp>
        <p:nvSpPr>
          <p:cNvPr id="6" name="Oval 5"/>
          <p:cNvSpPr/>
          <p:nvPr/>
        </p:nvSpPr>
        <p:spPr>
          <a:xfrm>
            <a:off x="932688" y="2212848"/>
            <a:ext cx="402336" cy="402336"/>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600" b="1" lang="ja-JP">
                <a:solidFill>
                  <a:srgbClr val="FFFFFF"/>
                </a:solidFill>
                <a:latin typeface="Noto Sans JP"/>
                <a:ea typeface="Noto Sans JP"/>
                <a:cs typeface="Noto Sans JP"/>
              </a:rPr>
              <a:t>1</a:t>
            </a:r>
          </a:p>
        </p:txBody>
      </p:sp>
      <p:sp>
        <p:nvSpPr>
          <p:cNvPr id="7" name="Rounded Rectangle 6"/>
          <p:cNvSpPr/>
          <p:nvPr/>
        </p:nvSpPr>
        <p:spPr>
          <a:xfrm>
            <a:off x="4334255" y="1975104"/>
            <a:ext cx="3410712" cy="219456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97510" bIns="197510"/>
          <a:lstStyle/>
          <a:p>
            <a:pPr algn="l" eaLnBrk="1" hangingPunct="1">
              <a:lnSpc>
                <a:spcPct val="100000"/>
              </a:lnSpc>
              <a:spcAft>
                <a:spcPts val="24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800" b="1" lang="ja-JP">
                <a:solidFill>
                  <a:srgbClr val="1B3A6B"/>
                </a:solidFill>
                <a:latin typeface="Noto Sans JP"/>
                <a:ea typeface="Noto Sans JP"/>
                <a:cs typeface="Noto Sans JP"/>
              </a:rPr>
              <a:t>痛んでから探す</a:t>
            </a:r>
          </a:p>
          <a:p>
            <a:pPr algn="l" eaLnBrk="1" hangingPunct="1">
              <a:lnSpc>
                <a:spcPct val="140000"/>
              </a:lnSpc>
            </a:pPr>
            <a:r>
              <a:rPr sz="1400" b="0" lang="ja-JP">
                <a:solidFill>
                  <a:srgbClr val="1F2735"/>
                </a:solidFill>
                <a:latin typeface="Noto Sans JP"/>
                <a:ea typeface="Noto Sans JP"/>
                <a:cs typeface="Noto Sans JP"/>
              </a:rPr>
              <a:t>事前にじっくり調べません。今すぐ診てほしい、で探します。</a:t>
            </a:r>
          </a:p>
        </p:txBody>
      </p:sp>
      <p:sp>
        <p:nvSpPr>
          <p:cNvPr id="8" name="Oval 7"/>
          <p:cNvSpPr/>
          <p:nvPr/>
        </p:nvSpPr>
        <p:spPr>
          <a:xfrm>
            <a:off x="4608575" y="2212848"/>
            <a:ext cx="402336" cy="402336"/>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600" b="1" lang="ja-JP">
                <a:solidFill>
                  <a:srgbClr val="FFFFFF"/>
                </a:solidFill>
                <a:latin typeface="Noto Sans JP"/>
                <a:ea typeface="Noto Sans JP"/>
                <a:cs typeface="Noto Sans JP"/>
              </a:rPr>
              <a:t>2</a:t>
            </a:r>
          </a:p>
        </p:txBody>
      </p:sp>
      <p:sp>
        <p:nvSpPr>
          <p:cNvPr id="9" name="Rounded Rectangle 8"/>
          <p:cNvSpPr/>
          <p:nvPr/>
        </p:nvSpPr>
        <p:spPr>
          <a:xfrm>
            <a:off x="8010144" y="1975104"/>
            <a:ext cx="3410712" cy="219456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97510" bIns="197510"/>
          <a:lstStyle/>
          <a:p>
            <a:pPr algn="l" eaLnBrk="1" hangingPunct="1">
              <a:lnSpc>
                <a:spcPct val="100000"/>
              </a:lnSpc>
              <a:spcAft>
                <a:spcPts val="24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800" b="1" lang="ja-JP">
                <a:solidFill>
                  <a:srgbClr val="1B3A6B"/>
                </a:solidFill>
                <a:latin typeface="Noto Sans JP"/>
                <a:ea typeface="Noto Sans JP"/>
                <a:cs typeface="Noto Sans JP"/>
              </a:rPr>
              <a:t>近さで決まる</a:t>
            </a:r>
          </a:p>
          <a:p>
            <a:pPr algn="l" eaLnBrk="1" hangingPunct="1">
              <a:lnSpc>
                <a:spcPct val="140000"/>
              </a:lnSpc>
            </a:pPr>
            <a:r>
              <a:rPr sz="1400" b="0" lang="ja-JP">
                <a:solidFill>
                  <a:srgbClr val="1F2735"/>
                </a:solidFill>
                <a:latin typeface="Noto Sans JP"/>
                <a:ea typeface="Noto Sans JP"/>
                <a:cs typeface="Noto Sans JP"/>
              </a:rPr>
              <a:t>遠くの評判より、近くて通いやすい院が選ばれます。</a:t>
            </a:r>
          </a:p>
        </p:txBody>
      </p:sp>
      <p:sp>
        <p:nvSpPr>
          <p:cNvPr id="10" name="Oval 9"/>
          <p:cNvSpPr/>
          <p:nvPr/>
        </p:nvSpPr>
        <p:spPr>
          <a:xfrm>
            <a:off x="8284464" y="2212848"/>
            <a:ext cx="402336" cy="402336"/>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600" b="1" lang="ja-JP">
                <a:solidFill>
                  <a:srgbClr val="FFFFFF"/>
                </a:solidFill>
                <a:latin typeface="Noto Sans JP"/>
                <a:ea typeface="Noto Sans JP"/>
                <a:cs typeface="Noto Sans JP"/>
              </a:rPr>
              <a:t>3</a:t>
            </a:r>
          </a:p>
        </p:txBody>
      </p:sp>
      <p:sp>
        <p:nvSpPr>
          <p:cNvPr id="11" name="Rounded Rectangle 10"/>
          <p:cNvSpPr/>
          <p:nvPr/>
        </p:nvSpPr>
        <p:spPr>
          <a:xfrm>
            <a:off x="658368" y="4590288"/>
            <a:ext cx="10874959" cy="1316736"/>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900" b="1" lang="ja-JP">
                <a:solidFill>
                  <a:srgbClr val="1B3A6B"/>
                </a:solidFill>
                <a:latin typeface="Noto Sans JP"/>
                <a:ea typeface="Noto Sans JP"/>
                <a:cs typeface="Noto Sans JP"/>
              </a:rPr>
              <a:t>掲載は無料。</a:t>
            </a:r>
          </a:p>
          <a:p>
            <a:pPr algn="l" eaLnBrk="1" hangingPunct="1">
              <a:lnSpc>
                <a:spcPct val="130000"/>
              </a:lnSpc>
            </a:pPr>
            <a:r>
              <a:rPr sz="1500" b="0" lang="ja-JP">
                <a:solidFill>
                  <a:srgbClr val="1F2735"/>
                </a:solidFill>
                <a:latin typeface="Noto Sans JP"/>
                <a:ea typeface="Noto Sans JP"/>
                <a:cs typeface="Noto Sans JP"/>
              </a:rPr>
              <a:t>広告と違って、止めても消えません。整えた分がそのまま残る「資産」になります。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340156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Part1　なぜGoogleマップが重要か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来院前に見られているのは、この4つ</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4</a:t>
            </a:r>
          </a:p>
        </p:txBody>
      </p:sp>
      <p:sp>
        <p:nvSpPr>
          <p:cNvPr id="5" name="Rounded Rectangle 4"/>
          <p:cNvSpPr/>
          <p:nvPr/>
        </p:nvSpPr>
        <p:spPr>
          <a:xfrm>
            <a:off x="65836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口コミ</a:t>
            </a:r>
          </a:p>
          <a:p>
            <a:pPr algn="l" eaLnBrk="1" hangingPunct="1">
              <a:lnSpc>
                <a:spcPct val="145000"/>
              </a:lnSpc>
            </a:pPr>
            <a:r>
              <a:rPr sz="1300" b="0" lang="ja-JP">
                <a:solidFill>
                  <a:srgbClr val="1F2735"/>
                </a:solidFill>
                <a:latin typeface="Noto Sans JP"/>
                <a:ea typeface="Noto Sans JP"/>
                <a:cs typeface="Noto Sans JP"/>
              </a:rPr>
              <a:t>評価と、書かれている内容。まず不安がないかを確かめられます。</a:t>
            </a:r>
          </a:p>
        </p:txBody>
      </p:sp>
      <p:sp>
        <p:nvSpPr>
          <p:cNvPr id="6" name="Oval 5"/>
          <p:cNvSpPr/>
          <p:nvPr/>
        </p:nvSpPr>
        <p:spPr>
          <a:xfrm>
            <a:off x="89611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1</a:t>
            </a:r>
          </a:p>
        </p:txBody>
      </p:sp>
      <p:sp>
        <p:nvSpPr>
          <p:cNvPr id="7" name="Rounded Rectangle 6"/>
          <p:cNvSpPr/>
          <p:nvPr/>
        </p:nvSpPr>
        <p:spPr>
          <a:xfrm>
            <a:off x="344728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写真</a:t>
            </a:r>
          </a:p>
          <a:p>
            <a:pPr algn="l" eaLnBrk="1" hangingPunct="1">
              <a:lnSpc>
                <a:spcPct val="145000"/>
              </a:lnSpc>
            </a:pPr>
            <a:r>
              <a:rPr sz="1300" b="0" lang="ja-JP">
                <a:solidFill>
                  <a:srgbClr val="1F2735"/>
                </a:solidFill>
                <a:latin typeface="Noto Sans JP"/>
                <a:ea typeface="Noto Sans JP"/>
                <a:cs typeface="Noto Sans JP"/>
              </a:rPr>
              <a:t>院内の明るさ、清潔さ。行ってよさそうかを一瞬で判断されます。</a:t>
            </a:r>
          </a:p>
        </p:txBody>
      </p:sp>
      <p:sp>
        <p:nvSpPr>
          <p:cNvPr id="8" name="Oval 7"/>
          <p:cNvSpPr/>
          <p:nvPr/>
        </p:nvSpPr>
        <p:spPr>
          <a:xfrm>
            <a:off x="368503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2</a:t>
            </a:r>
          </a:p>
        </p:txBody>
      </p:sp>
      <p:sp>
        <p:nvSpPr>
          <p:cNvPr id="9" name="Rounded Rectangle 8"/>
          <p:cNvSpPr/>
          <p:nvPr/>
        </p:nvSpPr>
        <p:spPr>
          <a:xfrm>
            <a:off x="623620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営業時間</a:t>
            </a:r>
          </a:p>
          <a:p>
            <a:pPr algn="l" eaLnBrk="1" hangingPunct="1">
              <a:lnSpc>
                <a:spcPct val="145000"/>
              </a:lnSpc>
            </a:pPr>
            <a:r>
              <a:rPr sz="1300" b="0" lang="ja-JP">
                <a:solidFill>
                  <a:srgbClr val="1F2735"/>
                </a:solidFill>
                <a:latin typeface="Noto Sans JP"/>
                <a:ea typeface="Noto Sans JP"/>
                <a:cs typeface="Noto Sans JP"/>
              </a:rPr>
              <a:t>いま行けるかどうか。違うと、来院前に離れます。</a:t>
            </a:r>
          </a:p>
        </p:txBody>
      </p:sp>
      <p:sp>
        <p:nvSpPr>
          <p:cNvPr id="10" name="Oval 9"/>
          <p:cNvSpPr/>
          <p:nvPr/>
        </p:nvSpPr>
        <p:spPr>
          <a:xfrm>
            <a:off x="647395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3</a:t>
            </a:r>
          </a:p>
        </p:txBody>
      </p:sp>
      <p:sp>
        <p:nvSpPr>
          <p:cNvPr id="11" name="Rounded Rectangle 10"/>
          <p:cNvSpPr/>
          <p:nvPr/>
        </p:nvSpPr>
        <p:spPr>
          <a:xfrm>
            <a:off x="902512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距離・道順</a:t>
            </a:r>
          </a:p>
          <a:p>
            <a:pPr algn="l" eaLnBrk="1" hangingPunct="1">
              <a:lnSpc>
                <a:spcPct val="145000"/>
              </a:lnSpc>
            </a:pPr>
            <a:r>
              <a:rPr sz="1300" b="0" lang="ja-JP">
                <a:solidFill>
                  <a:srgbClr val="1F2735"/>
                </a:solidFill>
                <a:latin typeface="Noto Sans JP"/>
                <a:ea typeface="Noto Sans JP"/>
                <a:cs typeface="Noto Sans JP"/>
              </a:rPr>
              <a:t>家や職場から通えるか。駐車場があるかも見られています。</a:t>
            </a:r>
          </a:p>
        </p:txBody>
      </p:sp>
      <p:sp>
        <p:nvSpPr>
          <p:cNvPr id="12" name="Oval 11"/>
          <p:cNvSpPr/>
          <p:nvPr/>
        </p:nvSpPr>
        <p:spPr>
          <a:xfrm>
            <a:off x="926287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4</a:t>
            </a:r>
          </a:p>
        </p:txBody>
      </p:sp>
      <p:sp>
        <p:nvSpPr>
          <p:cNvPr id="13" name="Rounded Rectangle 12"/>
          <p:cNvSpPr/>
          <p:nvPr/>
        </p:nvSpPr>
        <p:spPr>
          <a:xfrm>
            <a:off x="658368" y="4498848"/>
            <a:ext cx="10874959" cy="1298448"/>
          </a:xfrm>
          <a:prstGeom prst="roundRect">
            <a:avLst>
              <a:gd name="adj" fmla="val 8000"/>
            </a:avLst>
          </a:prstGeom>
          <a:solidFill>
            <a:srgbClr val="F6F8FC"/>
          </a:solidFill>
          <a:ln w="15875">
            <a:solidFill>
              <a:srgbClr val="3D5F96"/>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800" b="1" lang="ja-JP">
                <a:solidFill>
                  <a:srgbClr val="E8380D"/>
                </a:solidFill>
                <a:latin typeface="Noto Sans JP"/>
                <a:ea typeface="Noto Sans JP"/>
                <a:cs typeface="Noto Sans JP"/>
              </a:rPr>
              <a:t>ホームページまで見ない方も、少なくありません。</a:t>
            </a:r>
          </a:p>
          <a:p>
            <a:pPr algn="l" eaLnBrk="1" hangingPunct="1">
              <a:lnSpc>
                <a:spcPct val="130000"/>
              </a:lnSpc>
            </a:pPr>
            <a:r>
              <a:rPr sz="1500" b="0" lang="ja-JP">
                <a:solidFill>
                  <a:srgbClr val="1F2735"/>
                </a:solidFill>
                <a:latin typeface="Noto Sans JP"/>
                <a:ea typeface="Noto Sans JP"/>
                <a:cs typeface="Noto Sans JP"/>
              </a:rPr>
              <a:t>「Googleのお店ページ（Googleビジネスプロフィール）」そのものが、いまの入口です。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340156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Part1　なぜGoogleマップが重要か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AIも、同じ情報を見ています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5</a:t>
            </a:r>
          </a:p>
        </p:txBody>
      </p:sp>
      <p:sp>
        <p:nvSpPr>
          <p:cNvPr id="5" name="Rounded Rectangle 4"/>
          <p:cNvSpPr/>
          <p:nvPr/>
        </p:nvSpPr>
        <p:spPr>
          <a:xfrm>
            <a:off x="658368" y="2011680"/>
            <a:ext cx="4114800" cy="173736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600"/>
              </a:spcAft>
            </a:pPr>
            <a:r>
              <a:rPr sz="1900" b="1" lang="ja-JP">
                <a:solidFill>
                  <a:srgbClr val="FFFFFF"/>
                </a:solidFill>
                <a:latin typeface="Noto Sans JP"/>
                <a:ea typeface="Noto Sans JP"/>
                <a:cs typeface="Noto Sans JP"/>
              </a:rPr>
              <a:t>Googleのお店ページ</a:t>
            </a:r>
          </a:p>
          <a:p>
            <a:pPr algn="l" eaLnBrk="1" hangingPunct="1">
              <a:lnSpc>
                <a:spcPct val="135000"/>
              </a:lnSpc>
              <a:spcAft>
                <a:spcPts val="200"/>
              </a:spcAft>
            </a:pPr>
            <a:r>
              <a:rPr sz="1300" b="0" lang="ja-JP">
                <a:solidFill>
                  <a:srgbClr val="FFC20E"/>
                </a:solidFill>
                <a:latin typeface="Noto Sans JP"/>
                <a:ea typeface="Noto Sans JP"/>
                <a:cs typeface="Noto Sans JP"/>
              </a:rPr>
              <a:t>院名・カテゴリ・住所・電話</a:t>
            </a:r>
          </a:p>
          <a:p>
            <a:pPr algn="l" eaLnBrk="1" hangingPunct="1">
              <a:lnSpc>
                <a:spcPct val="135000"/>
              </a:lnSpc>
            </a:pPr>
            <a:r>
              <a:rPr sz="1300" b="0" lang="ja-JP">
                <a:solidFill>
                  <a:srgbClr val="FFC20E"/>
                </a:solidFill>
                <a:latin typeface="Noto Sans JP"/>
                <a:ea typeface="Noto Sans JP"/>
                <a:cs typeface="Noto Sans JP"/>
              </a:rPr>
              <a:t>営業時間・写真・口コミ</a:t>
            </a:r>
          </a:p>
        </p:txBody>
      </p:sp>
      <p:sp>
        <p:nvSpPr>
          <p:cNvPr id="6" name="Right Arrow 5"/>
          <p:cNvSpPr/>
          <p:nvPr/>
        </p:nvSpPr>
        <p:spPr>
          <a:xfrm>
            <a:off x="4937760" y="2304288"/>
            <a:ext cx="713232" cy="292608"/>
          </a:xfrm>
          <a:prstGeom prst="rightArrow">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ight Arrow 6"/>
          <p:cNvSpPr/>
          <p:nvPr/>
        </p:nvSpPr>
        <p:spPr>
          <a:xfrm>
            <a:off x="4937760" y="3163824"/>
            <a:ext cx="713232" cy="292608"/>
          </a:xfrm>
          <a:prstGeom prst="rightArrow">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815584" y="2011680"/>
            <a:ext cx="5715000" cy="786384"/>
          </a:xfrm>
          <a:prstGeom prst="roundRect">
            <a:avLst>
              <a:gd name="adj" fmla="val 12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500" b="1" lang="ja-JP">
                <a:solidFill>
                  <a:srgbClr val="1F2735"/>
                </a:solidFill>
                <a:latin typeface="Noto Sans JP"/>
                <a:ea typeface="Noto Sans JP"/>
                <a:cs typeface="Noto Sans JP"/>
              </a:rPr>
              <a:t>患者様がマップで探すときに表示される</a:t>
            </a:r>
          </a:p>
        </p:txBody>
      </p:sp>
      <p:sp>
        <p:nvSpPr>
          <p:cNvPr id="9" name="Rounded Rectangle 8"/>
          <p:cNvSpPr/>
          <p:nvPr/>
        </p:nvSpPr>
        <p:spPr>
          <a:xfrm>
            <a:off x="5815584" y="2962656"/>
            <a:ext cx="5715000" cy="786384"/>
          </a:xfrm>
          <a:prstGeom prst="roundRect">
            <a:avLst>
              <a:gd name="adj" fmla="val 12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500" b="1" lang="ja-JP">
                <a:solidFill>
                  <a:srgbClr val="1F2735"/>
                </a:solidFill>
                <a:latin typeface="Noto Sans JP"/>
                <a:ea typeface="Noto Sans JP"/>
                <a:cs typeface="Noto Sans JP"/>
              </a:rPr>
              <a:t>AIが「近くの接骨院は？」に答えるときも参照する</a:t>
            </a:r>
          </a:p>
        </p:txBody>
      </p:sp>
      <p:sp>
        <p:nvSpPr>
          <p:cNvPr id="10" name="Rounded Rectangle 9"/>
          <p:cNvSpPr/>
          <p:nvPr/>
        </p:nvSpPr>
        <p:spPr>
          <a:xfrm>
            <a:off x="658368" y="4133087"/>
            <a:ext cx="10874959" cy="1463040"/>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800"/>
              </a:spcAft>
            </a:pPr>
            <a:r>
              <a:rPr sz="1900" b="1" lang="ja-JP">
                <a:solidFill>
                  <a:srgbClr val="1B3A6B"/>
                </a:solidFill>
                <a:latin typeface="Noto Sans JP"/>
                <a:ea typeface="Noto Sans JP"/>
                <a:cs typeface="Noto Sans JP"/>
              </a:rPr>
              <a:t>特別な「AI対策」は、要りません。</a:t>
            </a:r>
          </a:p>
          <a:p>
            <a:pPr algn="l" eaLnBrk="1" hangingPunct="1">
              <a:lnSpc>
                <a:spcPct val="135000"/>
              </a:lnSpc>
            </a:pPr>
            <a:r>
              <a:rPr sz="1500" b="0" lang="ja-JP">
                <a:solidFill>
                  <a:srgbClr val="1F2735"/>
                </a:solidFill>
                <a:latin typeface="Noto Sans JP"/>
                <a:ea typeface="Noto Sans JP"/>
                <a:cs typeface="Noto Sans JP"/>
              </a:rPr>
              <a:t>AIが答えるときに見ているのも、Googleに登録された同じ情報です。今日の3つを整えれば、患者様にもAIにも、そのまま効きます。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67004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Part2　実は自分たちでできる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効くことのほとんどは、院内にあります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6</a:t>
            </a:r>
          </a:p>
        </p:txBody>
      </p:sp>
      <p:sp>
        <p:nvSpPr>
          <p:cNvPr id="5" name="Rounded Rectangle 4"/>
          <p:cNvSpPr/>
          <p:nvPr/>
        </p:nvSpPr>
        <p:spPr>
          <a:xfrm>
            <a:off x="658368" y="1883664"/>
            <a:ext cx="5285232" cy="265176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700" b="1" lang="ja-JP">
                <a:solidFill>
                  <a:srgbClr val="1B3A6B"/>
                </a:solidFill>
                <a:latin typeface="Noto Sans JP"/>
                <a:ea typeface="Noto Sans JP"/>
                <a:cs typeface="Noto Sans JP"/>
              </a:rPr>
              <a:t>選ばれ方に効くのは、この4つ</a:t>
            </a:r>
          </a:p>
          <a:p>
            <a:pPr algn="l" eaLnBrk="1" hangingPunct="1">
              <a:lnSpc>
                <a:spcPct val="130000"/>
              </a:lnSpc>
              <a:spcAft>
                <a:spcPts val="900"/>
              </a:spcAft>
            </a:pPr>
            <a:r>
              <a:rPr sz="1500" b="0" lang="ja-JP">
                <a:solidFill>
                  <a:srgbClr val="1F2735"/>
                </a:solidFill>
                <a:latin typeface="Noto Sans JP"/>
                <a:ea typeface="Noto Sans JP"/>
                <a:cs typeface="Noto Sans JP"/>
              </a:rPr>
              <a:t>情報の正確さ　　院名・住所・電話・営業時間</a:t>
            </a:r>
          </a:p>
          <a:p>
            <a:pPr algn="l" eaLnBrk="1" hangingPunct="1">
              <a:lnSpc>
                <a:spcPct val="130000"/>
              </a:lnSpc>
              <a:spcAft>
                <a:spcPts val="900"/>
              </a:spcAft>
            </a:pPr>
            <a:r>
              <a:rPr sz="1500" b="0" lang="ja-JP">
                <a:solidFill>
                  <a:srgbClr val="1F2735"/>
                </a:solidFill>
                <a:latin typeface="Noto Sans JP"/>
                <a:ea typeface="Noto Sans JP"/>
                <a:cs typeface="Noto Sans JP"/>
              </a:rPr>
              <a:t>写真　　　　　　院の中と外が分かること</a:t>
            </a:r>
          </a:p>
          <a:p>
            <a:pPr algn="l" eaLnBrk="1" hangingPunct="1">
              <a:lnSpc>
                <a:spcPct val="130000"/>
              </a:lnSpc>
              <a:spcAft>
                <a:spcPts val="900"/>
              </a:spcAft>
            </a:pPr>
            <a:r>
              <a:rPr sz="1500" b="0" lang="ja-JP">
                <a:solidFill>
                  <a:srgbClr val="1F2735"/>
                </a:solidFill>
                <a:latin typeface="Noto Sans JP"/>
                <a:ea typeface="Noto Sans JP"/>
                <a:cs typeface="Noto Sans JP"/>
              </a:rPr>
              <a:t>口コミ　　　　　数と、新しさと、返信</a:t>
            </a:r>
          </a:p>
          <a:p>
            <a:pPr algn="l" eaLnBrk="1" hangingPunct="1">
              <a:lnSpc>
                <a:spcPct val="130000"/>
              </a:lnSpc>
            </a:pPr>
            <a:r>
              <a:rPr sz="1500" b="0" lang="ja-JP">
                <a:solidFill>
                  <a:srgbClr val="1F2735"/>
                </a:solidFill>
                <a:latin typeface="Noto Sans JP"/>
                <a:ea typeface="Noto Sans JP"/>
                <a:cs typeface="Noto Sans JP"/>
              </a:rPr>
              <a:t>更新　　　　　　直近で手が入っているか</a:t>
            </a:r>
          </a:p>
        </p:txBody>
      </p:sp>
      <p:sp>
        <p:nvSpPr>
          <p:cNvPr id="6" name="Rounded Rectangle 5"/>
          <p:cNvSpPr/>
          <p:nvPr/>
        </p:nvSpPr>
        <p:spPr>
          <a:xfrm>
            <a:off x="6245352" y="1883664"/>
            <a:ext cx="5285232" cy="265176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700" b="1" lang="ja-JP">
                <a:solidFill>
                  <a:srgbClr val="FFC20E"/>
                </a:solidFill>
                <a:latin typeface="Noto Sans JP"/>
                <a:ea typeface="Noto Sans JP"/>
                <a:cs typeface="Noto Sans JP"/>
              </a:rPr>
              <a:t>業者では代われないこと</a:t>
            </a:r>
          </a:p>
          <a:p>
            <a:pPr algn="l" eaLnBrk="1" hangingPunct="1">
              <a:lnSpc>
                <a:spcPct val="130000"/>
              </a:lnSpc>
              <a:spcAft>
                <a:spcPts val="900"/>
              </a:spcAft>
            </a:pPr>
            <a:r>
              <a:rPr sz="1500" b="0" lang="ja-JP">
                <a:solidFill>
                  <a:srgbClr val="FFFFFF"/>
                </a:solidFill>
                <a:latin typeface="Noto Sans JP"/>
                <a:ea typeface="Noto Sans JP"/>
                <a:cs typeface="Noto Sans JP"/>
              </a:rPr>
              <a:t>施術している風景</a:t>
            </a:r>
          </a:p>
          <a:p>
            <a:pPr algn="l" eaLnBrk="1" hangingPunct="1">
              <a:lnSpc>
                <a:spcPct val="130000"/>
              </a:lnSpc>
              <a:spcAft>
                <a:spcPts val="900"/>
              </a:spcAft>
            </a:pPr>
            <a:r>
              <a:rPr sz="1500" b="0" lang="ja-JP">
                <a:solidFill>
                  <a:srgbClr val="FFFFFF"/>
                </a:solidFill>
                <a:latin typeface="Noto Sans JP"/>
                <a:ea typeface="Noto Sans JP"/>
                <a:cs typeface="Noto Sans JP"/>
              </a:rPr>
              <a:t>スタッフの表情と、院の雰囲気</a:t>
            </a:r>
          </a:p>
          <a:p>
            <a:pPr algn="l" eaLnBrk="1" hangingPunct="1">
              <a:lnSpc>
                <a:spcPct val="130000"/>
              </a:lnSpc>
              <a:spcAft>
                <a:spcPts val="900"/>
              </a:spcAft>
            </a:pPr>
            <a:r>
              <a:rPr sz="1500" b="0" lang="ja-JP">
                <a:solidFill>
                  <a:srgbClr val="FFFFFF"/>
                </a:solidFill>
                <a:latin typeface="Noto Sans JP"/>
                <a:ea typeface="Noto Sans JP"/>
                <a:cs typeface="Noto Sans JP"/>
              </a:rPr>
              <a:t>患者様への、その場のひと声</a:t>
            </a:r>
          </a:p>
          <a:p>
            <a:pPr algn="l" eaLnBrk="1" hangingPunct="1">
              <a:lnSpc>
                <a:spcPct val="130000"/>
              </a:lnSpc>
            </a:pPr>
            <a:r>
              <a:rPr sz="1500" b="1" lang="ja-JP">
                <a:solidFill>
                  <a:srgbClr val="FFC20E"/>
                </a:solidFill>
                <a:latin typeface="Noto Sans JP"/>
                <a:ea typeface="Noto Sans JP"/>
                <a:cs typeface="Noto Sans JP"/>
              </a:rPr>
              <a:t>どれも、院内からしか出てきません</a:t>
            </a:r>
          </a:p>
        </p:txBody>
      </p:sp>
      <p:sp>
        <p:nvSpPr>
          <p:cNvPr id="7" name="Rounded Rectangle 6"/>
          <p:cNvSpPr/>
          <p:nvPr/>
        </p:nvSpPr>
        <p:spPr>
          <a:xfrm>
            <a:off x="658368" y="4736592"/>
            <a:ext cx="10874959" cy="1060704"/>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30000"/>
              </a:lnSpc>
            </a:pPr>
            <a:r>
              <a:rPr sz="1700" b="1" lang="ja-JP">
                <a:solidFill>
                  <a:srgbClr val="1B3A6B"/>
                </a:solidFill>
                <a:latin typeface="Noto Sans JP"/>
                <a:ea typeface="Noto Sans JP"/>
                <a:cs typeface="Noto Sans JP"/>
              </a:rPr>
              <a:t>どれだけ費用をかけても、材料は院内にしかありません。だから、院長先生ご自身でできます。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67004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Part2　実は自分たちでできる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必要なのは費用ではなく「習慣」です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7</a:t>
            </a:r>
          </a:p>
        </p:txBody>
      </p:sp>
      <p:sp>
        <p:nvSpPr>
          <p:cNvPr id="5" name="Rounded Rectangle 4"/>
          <p:cNvSpPr/>
          <p:nvPr/>
        </p:nvSpPr>
        <p:spPr>
          <a:xfrm>
            <a:off x="658368" y="1975104"/>
            <a:ext cx="3931920" cy="228600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ctr" eaLnBrk="1" hangingPunct="1">
              <a:lnSpc>
                <a:spcPct val="100000"/>
              </a:lnSpc>
              <a:spcAft>
                <a:spcPts val="200"/>
              </a:spcAft>
            </a:pPr>
            <a:r>
              <a:rPr sz="2000" b="1" lang="ja-JP">
                <a:solidFill>
                  <a:srgbClr val="FFFFFF"/>
                </a:solidFill>
                <a:latin typeface="Noto Sans JP"/>
                <a:ea typeface="Noto Sans JP"/>
                <a:cs typeface="Noto Sans JP"/>
              </a:rPr>
              <a:t>月</a:t>
            </a:r>
          </a:p>
          <a:p>
            <a:pPr algn="ctr" eaLnBrk="1" hangingPunct="1">
              <a:lnSpc>
                <a:spcPct val="100000"/>
              </a:lnSpc>
            </a:pPr>
            <a:r>
              <a:rPr sz="7600" b="1" lang="ja-JP">
                <a:solidFill>
                  <a:srgbClr val="FFC20E"/>
                </a:solidFill>
                <a:latin typeface="Noto Sans JP"/>
                <a:ea typeface="Noto Sans JP"/>
                <a:cs typeface="Noto Sans JP"/>
              </a:rPr>
              <a:t>30分</a:t>
            </a:r>
          </a:p>
        </p:txBody>
      </p:sp>
      <p:sp>
        <p:nvSpPr>
          <p:cNvPr id="6" name="Rounded Rectangle 5"/>
          <p:cNvSpPr/>
          <p:nvPr/>
        </p:nvSpPr>
        <p:spPr>
          <a:xfrm>
            <a:off x="4864608" y="1975104"/>
            <a:ext cx="6665976" cy="676656"/>
          </a:xfrm>
          <a:prstGeom prst="roundRect">
            <a:avLst>
              <a:gd name="adj" fmla="val 14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600" b="1" lang="ja-JP">
                <a:solidFill>
                  <a:srgbClr val="1B3A6B"/>
                </a:solidFill>
                <a:latin typeface="Noto Sans JP"/>
                <a:ea typeface="Noto Sans JP"/>
                <a:cs typeface="Noto Sans JP"/>
              </a:rPr>
              <a:t>写真を足す　</a:t>
            </a:r>
            <a:r>
              <a:rPr sz="1400" b="0" lang="ja-JP">
                <a:solidFill>
                  <a:srgbClr val="1F2735"/>
                </a:solidFill>
                <a:latin typeface="Noto Sans JP"/>
                <a:ea typeface="Noto Sans JP"/>
                <a:cs typeface="Noto Sans JP"/>
              </a:rPr>
              <a:t>その月に撮れた写真を追加する</a:t>
            </a:r>
          </a:p>
        </p:txBody>
      </p:sp>
      <p:sp>
        <p:nvSpPr>
          <p:cNvPr id="7" name="Rounded Rectangle 6"/>
          <p:cNvSpPr/>
          <p:nvPr/>
        </p:nvSpPr>
        <p:spPr>
          <a:xfrm>
            <a:off x="4864608" y="2779776"/>
            <a:ext cx="6665976" cy="676656"/>
          </a:xfrm>
          <a:prstGeom prst="roundRect">
            <a:avLst>
              <a:gd name="adj" fmla="val 14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600" b="1" lang="ja-JP">
                <a:solidFill>
                  <a:srgbClr val="1B3A6B"/>
                </a:solidFill>
                <a:latin typeface="Noto Sans JP"/>
                <a:ea typeface="Noto Sans JP"/>
                <a:cs typeface="Noto Sans JP"/>
              </a:rPr>
              <a:t>口コミに返信する　</a:t>
            </a:r>
            <a:r>
              <a:rPr sz="1400" b="0" lang="ja-JP">
                <a:solidFill>
                  <a:srgbClr val="1F2735"/>
                </a:solidFill>
                <a:latin typeface="Noto Sans JP"/>
                <a:ea typeface="Noto Sans JP"/>
                <a:cs typeface="Noto Sans JP"/>
              </a:rPr>
              <a:t>たまった分にまとめて返す</a:t>
            </a:r>
          </a:p>
        </p:txBody>
      </p:sp>
      <p:sp>
        <p:nvSpPr>
          <p:cNvPr id="8" name="Rounded Rectangle 7"/>
          <p:cNvSpPr/>
          <p:nvPr/>
        </p:nvSpPr>
        <p:spPr>
          <a:xfrm>
            <a:off x="4864608" y="3584448"/>
            <a:ext cx="6665976" cy="676656"/>
          </a:xfrm>
          <a:prstGeom prst="roundRect">
            <a:avLst>
              <a:gd name="adj" fmla="val 14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600" b="1" lang="ja-JP">
                <a:solidFill>
                  <a:srgbClr val="1B3A6B"/>
                </a:solidFill>
                <a:latin typeface="Noto Sans JP"/>
                <a:ea typeface="Noto Sans JP"/>
                <a:cs typeface="Noto Sans JP"/>
              </a:rPr>
              <a:t>情報を見直す　</a:t>
            </a:r>
            <a:r>
              <a:rPr sz="1400" b="0" lang="ja-JP">
                <a:solidFill>
                  <a:srgbClr val="1F2735"/>
                </a:solidFill>
                <a:latin typeface="Noto Sans JP"/>
                <a:ea typeface="Noto Sans JP"/>
                <a:cs typeface="Noto Sans JP"/>
              </a:rPr>
              <a:t>営業時間や休診日に変更がないか</a:t>
            </a:r>
          </a:p>
        </p:txBody>
      </p:sp>
      <p:sp>
        <p:nvSpPr>
          <p:cNvPr id="9" name="Rounded Rectangle 8"/>
          <p:cNvSpPr/>
          <p:nvPr/>
        </p:nvSpPr>
        <p:spPr>
          <a:xfrm>
            <a:off x="658368" y="4572000"/>
            <a:ext cx="10874959" cy="1188720"/>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800" b="1" lang="ja-JP">
                <a:solidFill>
                  <a:srgbClr val="1F2735"/>
                </a:solidFill>
                <a:latin typeface="Noto Sans JP"/>
                <a:ea typeface="Noto Sans JP"/>
                <a:cs typeface="Noto Sans JP"/>
              </a:rPr>
              <a:t>完璧にやる必要はありません。</a:t>
            </a:r>
            <a:r>
              <a:rPr sz="1800" b="1" lang="ja-JP">
                <a:solidFill>
                  <a:srgbClr val="E8380D"/>
                </a:solidFill>
                <a:latin typeface="Noto Sans JP"/>
                <a:ea typeface="Noto Sans JP"/>
                <a:cs typeface="Noto Sans JP"/>
              </a:rPr>
              <a:t>止めないこと</a:t>
            </a:r>
            <a:r>
              <a:rPr sz="1800" b="1" lang="ja-JP">
                <a:solidFill>
                  <a:srgbClr val="1F2735"/>
                </a:solidFill>
                <a:latin typeface="Noto Sans JP"/>
                <a:ea typeface="Noto Sans JP"/>
                <a:cs typeface="Noto Sans JP"/>
              </a:rPr>
              <a:t>のほうが効きます。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最初にやるのは「オーナー確認」</a:t>
            </a:r>
          </a:p>
        </p:txBody>
      </p:sp>
      <p:sp>
        <p:nvSpPr>
          <p:cNvPr id="4" name="TextBox 3"/>
          <p:cNvSpPr txBox="1"/>
          <p:nvPr/>
        </p:nvSpPr>
        <p:spPr>
          <a:xfrm>
            <a:off x="658368" y="1424432"/>
            <a:ext cx="10874959" cy="365760"/>
          </a:xfrm>
          <a:prstGeom prst="rect">
            <a:avLst/>
          </a:prstGeom>
          <a:noFill/>
        </p:spPr>
        <p:txBody>
          <a:bodyPr wrap="square" lIns="0" rIns="0" tIns="0" bIns="0" anchor="t">
            <a:spAutoFit/>
          </a:bodyPr>
          <a:lstStyle/>
          <a:p>
            <a:pPr algn="l" eaLnBrk="1" hangingPunct="1">
              <a:lnSpc>
                <a:spcPct val="125000"/>
              </a:lnSpc>
            </a:pPr>
            <a:r>
              <a:rPr sz="1400" b="0" lang="ja-JP">
                <a:solidFill>
                  <a:srgbClr val="6B7587"/>
                </a:solidFill>
                <a:latin typeface="Noto Sans JP"/>
                <a:ea typeface="Noto Sans JP"/>
                <a:cs typeface="Noto Sans JP"/>
              </a:rPr>
              <a:t>自分の院として管理できる状態にする手続きです</a:t>
            </a:r>
          </a:p>
        </p:txBody>
      </p:sp>
      <p:sp>
        <p:nvSpPr>
          <p:cNvPr id="5" name="TextBox 4"/>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8</a:t>
            </a:r>
          </a:p>
        </p:txBody>
      </p:sp>
      <p:sp>
        <p:nvSpPr>
          <p:cNvPr id="6" name="Rounded Rectangle 5"/>
          <p:cNvSpPr/>
          <p:nvPr/>
        </p:nvSpPr>
        <p:spPr>
          <a:xfrm>
            <a:off x="658368" y="2157984"/>
            <a:ext cx="6675120" cy="2670048"/>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400" b="1" lang="ja-JP">
                <a:solidFill>
                  <a:srgbClr val="3D5F96"/>
                </a:solidFill>
                <a:latin typeface="Noto Sans JP"/>
                <a:ea typeface="Noto Sans JP"/>
                <a:cs typeface="Noto Sans JP"/>
              </a:rPr>
              <a:t>上から順にやれば終わります</a:t>
            </a:r>
          </a:p>
          <a:p>
            <a:pPr algn="l" eaLnBrk="1" hangingPunct="1" marL="310896" indent="-310896">
              <a:lnSpc>
                <a:spcPct val="130000"/>
              </a:lnSpc>
              <a:spcAft>
                <a:spcPts val="1000"/>
              </a:spcAft>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Googleで自院名を検索し、お店ページを開く</a:t>
            </a:r>
          </a:p>
          <a:p>
            <a:pPr algn="l" eaLnBrk="1" hangingPunct="1" marL="310896" indent="-310896">
              <a:lnSpc>
                <a:spcPct val="130000"/>
              </a:lnSpc>
              <a:spcAft>
                <a:spcPts val="1000"/>
              </a:spcAft>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「このビジネスのオーナーですか？」の表示をタップ</a:t>
            </a:r>
          </a:p>
          <a:p>
            <a:pPr algn="l" eaLnBrk="1" hangingPunct="1" marL="310896" indent="-310896">
              <a:lnSpc>
                <a:spcPct val="130000"/>
              </a:lnSpc>
              <a:spcAft>
                <a:spcPts val="1000"/>
              </a:spcAft>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案内どおりに確認する（ハガキ・電話・動画のいずれか）</a:t>
            </a:r>
          </a:p>
          <a:p>
            <a:pPr algn="l" eaLnBrk="1" hangingPunct="1" marL="310896" indent="-310896">
              <a:lnSpc>
                <a:spcPct val="130000"/>
              </a:lnSpc>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編集メニューが出れば完了。ここから全部直せます</a:t>
            </a:r>
          </a:p>
        </p:txBody>
      </p:sp>
      <p:sp>
        <p:nvSpPr>
          <p:cNvPr id="7" name="Rounded Rectangle 6"/>
          <p:cNvSpPr/>
          <p:nvPr/>
        </p:nvSpPr>
        <p:spPr>
          <a:xfrm>
            <a:off x="7571231" y="2157984"/>
            <a:ext cx="3959352" cy="2670048"/>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Noto Sans JP"/>
                <a:ea typeface="Noto Sans JP"/>
                <a:cs typeface="Noto Sans JP"/>
              </a:rPr>
              <a:t>［画像］</a:t>
            </a:r>
          </a:p>
          <a:p>
            <a:pPr algn="ctr" eaLnBrk="1" hangingPunct="1">
              <a:lnSpc>
                <a:spcPct val="130000"/>
              </a:lnSpc>
            </a:pPr>
            <a:r>
              <a:rPr sz="1200" b="1" lang="ja-JP">
                <a:solidFill>
                  <a:srgbClr val="1B3A6B"/>
                </a:solidFill>
                <a:latin typeface="Noto Sans JP"/>
                <a:ea typeface="Noto Sans JP"/>
                <a:cs typeface="Noto Sans JP"/>
              </a:rPr>
              <a:t>画面キャプチャ</a:t>
            </a:r>
          </a:p>
          <a:p>
            <a:pPr algn="ctr" eaLnBrk="1" hangingPunct="1">
              <a:lnSpc>
                <a:spcPct val="130000"/>
              </a:lnSpc>
            </a:pPr>
            <a:r>
              <a:rPr sz="1000" b="0" lang="ja-JP">
                <a:solidFill>
                  <a:srgbClr val="6B7587"/>
                </a:solidFill>
                <a:latin typeface="Noto Sans JP"/>
                <a:ea typeface="Noto Sans JP"/>
                <a:cs typeface="Noto Sans JP"/>
              </a:rPr>
              <a:t>「オーナーですか？」の表示が出ている検索結果</a:t>
            </a:r>
          </a:p>
        </p:txBody>
      </p:sp>
      <p:sp>
        <p:nvSpPr>
          <p:cNvPr id="8" name="Rounded Rectangle 7"/>
          <p:cNvSpPr/>
          <p:nvPr/>
        </p:nvSpPr>
        <p:spPr>
          <a:xfrm>
            <a:off x="658368" y="5047488"/>
            <a:ext cx="10874959" cy="896112"/>
          </a:xfrm>
          <a:prstGeom prst="roundRect">
            <a:avLst>
              <a:gd name="adj" fmla="val 8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700" b="1" lang="ja-JP">
                <a:solidFill>
                  <a:srgbClr val="E8380D"/>
                </a:solidFill>
                <a:latin typeface="Noto Sans JP"/>
                <a:ea typeface="Noto Sans JP"/>
                <a:cs typeface="Noto Sans JP"/>
              </a:rPr>
              <a:t>ここが終わっていないと、この先の項目はひとつも直せません。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院名は「正式名称」だけにする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9</a:t>
            </a:r>
          </a:p>
        </p:txBody>
      </p:sp>
      <p:sp>
        <p:nvSpPr>
          <p:cNvPr id="5" name="Rounded Rectangle 4"/>
          <p:cNvSpPr/>
          <p:nvPr/>
        </p:nvSpPr>
        <p:spPr>
          <a:xfrm>
            <a:off x="658368" y="1956816"/>
            <a:ext cx="5285232" cy="155448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800"/>
              </a:spcAft>
            </a:pPr>
            <a:r>
              <a:rPr sz="1500" b="1" lang="ja-JP">
                <a:solidFill>
                  <a:srgbClr val="1B3A6B"/>
                </a:solidFill>
                <a:latin typeface="Noto Sans JP"/>
                <a:ea typeface="Noto Sans JP"/>
                <a:cs typeface="Noto Sans JP"/>
              </a:rPr>
              <a:t>○　良い例</a:t>
            </a:r>
          </a:p>
          <a:p>
            <a:pPr algn="l" eaLnBrk="1" hangingPunct="1">
              <a:lnSpc>
                <a:spcPct val="120000"/>
              </a:lnSpc>
              <a:spcAft>
                <a:spcPts val="600"/>
              </a:spcAft>
            </a:pPr>
            <a:r>
              <a:rPr sz="2400" b="1" lang="ja-JP">
                <a:solidFill>
                  <a:srgbClr val="1F2735"/>
                </a:solidFill>
                <a:latin typeface="Noto Sans JP"/>
                <a:ea typeface="Noto Sans JP"/>
                <a:cs typeface="Noto Sans JP"/>
              </a:rPr>
              <a:t>〇〇接骨院</a:t>
            </a:r>
          </a:p>
          <a:p>
            <a:pPr algn="l" eaLnBrk="1" hangingPunct="1">
              <a:lnSpc>
                <a:spcPct val="120000"/>
              </a:lnSpc>
            </a:pPr>
            <a:r>
              <a:rPr sz="1200" b="0" lang="ja-JP">
                <a:solidFill>
                  <a:srgbClr val="6B7587"/>
                </a:solidFill>
                <a:latin typeface="Noto Sans JP"/>
                <a:ea typeface="Noto Sans JP"/>
                <a:cs typeface="Noto Sans JP"/>
              </a:rPr>
              <a:t>看板・保険証の届出と同じ表記</a:t>
            </a:r>
          </a:p>
        </p:txBody>
      </p:sp>
      <p:sp>
        <p:nvSpPr>
          <p:cNvPr id="6" name="Rounded Rectangle 5"/>
          <p:cNvSpPr/>
          <p:nvPr/>
        </p:nvSpPr>
        <p:spPr>
          <a:xfrm>
            <a:off x="6245352" y="1956816"/>
            <a:ext cx="5285232" cy="1554480"/>
          </a:xfrm>
          <a:prstGeom prst="roundRect">
            <a:avLst>
              <a:gd name="adj" fmla="val 8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800"/>
              </a:spcAft>
            </a:pPr>
            <a:r>
              <a:rPr sz="1500" b="1" lang="ja-JP">
                <a:solidFill>
                  <a:srgbClr val="E8380D"/>
                </a:solidFill>
                <a:latin typeface="Noto Sans JP"/>
                <a:ea typeface="Noto Sans JP"/>
                <a:cs typeface="Noto Sans JP"/>
              </a:rPr>
              <a:t>✕　悪い例</a:t>
            </a:r>
          </a:p>
          <a:p>
            <a:pPr algn="l" eaLnBrk="1" hangingPunct="1">
              <a:lnSpc>
                <a:spcPct val="125000"/>
              </a:lnSpc>
            </a:pPr>
            <a:r>
              <a:rPr sz="1900" b="1" lang="ja-JP">
                <a:solidFill>
                  <a:srgbClr val="1F2735"/>
                </a:solidFill>
                <a:latin typeface="Noto Sans JP"/>
                <a:ea typeface="Noto Sans JP"/>
                <a:cs typeface="Noto Sans JP"/>
              </a:rPr>
              <a:t>〇〇接骨院｜腰痛・交通事故・骨盤矯正・〇〇駅前</a:t>
            </a:r>
          </a:p>
        </p:txBody>
      </p:sp>
      <p:sp>
        <p:nvSpPr>
          <p:cNvPr id="7" name="Rounded Rectangle 6"/>
          <p:cNvSpPr/>
          <p:nvPr/>
        </p:nvSpPr>
        <p:spPr>
          <a:xfrm>
            <a:off x="658368" y="3712463"/>
            <a:ext cx="10874959" cy="1371600"/>
          </a:xfrm>
          <a:prstGeom prst="roundRect">
            <a:avLst>
              <a:gd name="adj" fmla="val 8000"/>
            </a:avLst>
          </a:prstGeom>
          <a:solidFill>
            <a:srgbClr val="F6F8FC"/>
          </a:solidFill>
          <a:ln w="15875">
            <a:solidFill>
              <a:srgbClr val="3D5F96"/>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800" b="1" lang="ja-JP">
                <a:solidFill>
                  <a:srgbClr val="1B3A6B"/>
                </a:solidFill>
                <a:latin typeface="Noto Sans JP"/>
                <a:ea typeface="Noto Sans JP"/>
                <a:cs typeface="Noto Sans JP"/>
              </a:rPr>
              <a:t>Googleが求めているのは「実際に看板に出ている名前」です。</a:t>
            </a:r>
          </a:p>
          <a:p>
            <a:pPr algn="l" eaLnBrk="1" hangingPunct="1">
              <a:lnSpc>
                <a:spcPct val="130000"/>
              </a:lnSpc>
            </a:pPr>
            <a:r>
              <a:rPr sz="1400" b="0" lang="ja-JP">
                <a:solidFill>
                  <a:srgbClr val="1F2735"/>
                </a:solidFill>
                <a:latin typeface="Noto Sans JP"/>
                <a:ea typeface="Noto Sans JP"/>
                <a:cs typeface="Noto Sans JP"/>
              </a:rPr>
              <a:t>違う名前で登録していると、Google側で勝手に直されたり、掲載を止められたりすることがあります。</a:t>
            </a:r>
          </a:p>
        </p:txBody>
      </p:sp>
      <p:sp>
        <p:nvSpPr>
          <p:cNvPr id="8" name="Rounded Rectangle 7"/>
          <p:cNvSpPr/>
          <p:nvPr/>
        </p:nvSpPr>
        <p:spPr>
          <a:xfrm>
            <a:off x="658368" y="5285232"/>
            <a:ext cx="10874959" cy="786384"/>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Noto Sans JP"/>
                <a:ea typeface="Noto Sans JP"/>
                <a:cs typeface="Noto Sans JP"/>
              </a:rPr>
              <a:t>やってはいけない　</a:t>
            </a:r>
            <a:r>
              <a:rPr sz="1300" b="0" lang="ja-JP">
                <a:solidFill>
                  <a:srgbClr val="1F2735"/>
                </a:solidFill>
                <a:latin typeface="Noto Sans JP"/>
                <a:ea typeface="Noto Sans JP"/>
                <a:cs typeface="Noto Sans JP"/>
              </a:rPr>
              <a:t>院名にキーワードを詰め込むこと。順位は上がらず、ページごと使えなくなることがあります。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カテゴリ選びが、いちばん効きます</a:t>
            </a:r>
          </a:p>
        </p:txBody>
      </p:sp>
      <p:sp>
        <p:nvSpPr>
          <p:cNvPr id="4" name="TextBox 3"/>
          <p:cNvSpPr txBox="1"/>
          <p:nvPr/>
        </p:nvSpPr>
        <p:spPr>
          <a:xfrm>
            <a:off x="658368" y="1424432"/>
            <a:ext cx="10874959" cy="365760"/>
          </a:xfrm>
          <a:prstGeom prst="rect">
            <a:avLst/>
          </a:prstGeom>
          <a:noFill/>
        </p:spPr>
        <p:txBody>
          <a:bodyPr wrap="square" lIns="0" rIns="0" tIns="0" bIns="0" anchor="t">
            <a:spAutoFit/>
          </a:bodyPr>
          <a:lstStyle/>
          <a:p>
            <a:pPr algn="l" eaLnBrk="1" hangingPunct="1">
              <a:lnSpc>
                <a:spcPct val="125000"/>
              </a:lnSpc>
            </a:pPr>
            <a:r>
              <a:rPr sz="1400" b="0" lang="ja-JP">
                <a:solidFill>
                  <a:srgbClr val="6B7587"/>
                </a:solidFill>
                <a:latin typeface="Noto Sans JP"/>
                <a:ea typeface="Noto Sans JP"/>
                <a:cs typeface="Noto Sans JP"/>
              </a:rPr>
              <a:t>カテゴリ＝「何のお店か」をGoogleに伝える設定です</a:t>
            </a:r>
          </a:p>
        </p:txBody>
      </p:sp>
      <p:sp>
        <p:nvSpPr>
          <p:cNvPr id="5" name="TextBox 4"/>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10</a:t>
            </a:r>
          </a:p>
        </p:txBody>
      </p:sp>
      <p:sp>
        <p:nvSpPr>
          <p:cNvPr id="6" name="Rounded Rectangle 5"/>
          <p:cNvSpPr/>
          <p:nvPr/>
        </p:nvSpPr>
        <p:spPr>
          <a:xfrm>
            <a:off x="658368" y="2157984"/>
            <a:ext cx="6675120" cy="2889504"/>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400" b="1" lang="ja-JP">
                <a:solidFill>
                  <a:srgbClr val="3D5F96"/>
                </a:solidFill>
                <a:latin typeface="Noto Sans JP"/>
                <a:ea typeface="Noto Sans JP"/>
                <a:cs typeface="Noto Sans JP"/>
              </a:rPr>
              <a:t>上から順にやれば終わります</a:t>
            </a:r>
          </a:p>
          <a:p>
            <a:pPr algn="l" eaLnBrk="1" hangingPunct="1" marL="310896" indent="-310896">
              <a:lnSpc>
                <a:spcPct val="130000"/>
              </a:lnSpc>
              <a:spcAft>
                <a:spcPts val="1000"/>
              </a:spcAft>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メインカテゴリはひとつだけ。患者様が使う言葉で選ぶ</a:t>
            </a:r>
          </a:p>
          <a:p>
            <a:pPr algn="l" eaLnBrk="1" hangingPunct="1" marL="310896" indent="-310896">
              <a:lnSpc>
                <a:spcPct val="130000"/>
              </a:lnSpc>
              <a:spcAft>
                <a:spcPts val="1000"/>
              </a:spcAft>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迷ったら、地図の上位に出ている近隣の同業の設定を見る</a:t>
            </a:r>
          </a:p>
          <a:p>
            <a:pPr algn="l" eaLnBrk="1" hangingPunct="1" marL="310896" indent="-310896">
              <a:lnSpc>
                <a:spcPct val="130000"/>
              </a:lnSpc>
              <a:spcAft>
                <a:spcPts val="1000"/>
              </a:spcAft>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追加カテゴリは、実際にやっている施術だけ（鍼灸院 など）</a:t>
            </a:r>
          </a:p>
          <a:p>
            <a:pPr algn="l" eaLnBrk="1" hangingPunct="1" marL="310896" indent="-310896">
              <a:lnSpc>
                <a:spcPct val="130000"/>
              </a:lnSpc>
            </a:pPr>
            <a:r>
              <a:rPr sz="1500" b="1" lang="ja-JP">
                <a:solidFill>
                  <a:srgbClr val="1B3A6B"/>
                </a:solidFill>
                <a:latin typeface="Noto Sans JP"/>
                <a:ea typeface="Noto Sans JP"/>
                <a:cs typeface="Noto Sans JP"/>
              </a:rPr>
              <a:t>□　</a:t>
            </a:r>
            <a:r>
              <a:rPr sz="1500" b="0" lang="ja-JP">
                <a:solidFill>
                  <a:srgbClr val="1F2735"/>
                </a:solidFill>
                <a:latin typeface="Noto Sans JP"/>
                <a:ea typeface="Noto Sans JP"/>
                <a:cs typeface="Noto Sans JP"/>
              </a:rPr>
              <a:t>やっていない施術は、追加しない</a:t>
            </a:r>
          </a:p>
        </p:txBody>
      </p:sp>
      <p:sp>
        <p:nvSpPr>
          <p:cNvPr id="7" name="Rounded Rectangle 6"/>
          <p:cNvSpPr/>
          <p:nvPr/>
        </p:nvSpPr>
        <p:spPr>
          <a:xfrm>
            <a:off x="7571231" y="2157984"/>
            <a:ext cx="3959352" cy="28895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Noto Sans JP"/>
                <a:ea typeface="Noto Sans JP"/>
                <a:cs typeface="Noto Sans JP"/>
              </a:rPr>
              <a:t>［画像］</a:t>
            </a:r>
          </a:p>
          <a:p>
            <a:pPr algn="ctr" eaLnBrk="1" hangingPunct="1">
              <a:lnSpc>
                <a:spcPct val="130000"/>
              </a:lnSpc>
            </a:pPr>
            <a:r>
              <a:rPr sz="1200" b="1" lang="ja-JP">
                <a:solidFill>
                  <a:srgbClr val="1B3A6B"/>
                </a:solidFill>
                <a:latin typeface="Noto Sans JP"/>
                <a:ea typeface="Noto Sans JP"/>
                <a:cs typeface="Noto Sans JP"/>
              </a:rPr>
              <a:t>画面キャプチャ</a:t>
            </a:r>
          </a:p>
          <a:p>
            <a:pPr algn="ctr" eaLnBrk="1" hangingPunct="1">
              <a:lnSpc>
                <a:spcPct val="130000"/>
              </a:lnSpc>
            </a:pPr>
            <a:r>
              <a:rPr sz="1000" b="0" lang="ja-JP">
                <a:solidFill>
                  <a:srgbClr val="6B7587"/>
                </a:solidFill>
                <a:latin typeface="Noto Sans JP"/>
                <a:ea typeface="Noto Sans JP"/>
                <a:cs typeface="Noto Sans JP"/>
              </a:rPr>
              <a:t>カテゴリの設定画面／メインカテゴリと追加カテゴリの欄</a:t>
            </a:r>
          </a:p>
        </p:txBody>
      </p:sp>
      <p:sp>
        <p:nvSpPr>
          <p:cNvPr id="8" name="Rounded Rectangle 7"/>
          <p:cNvSpPr/>
          <p:nvPr/>
        </p:nvSpPr>
        <p:spPr>
          <a:xfrm>
            <a:off x="658368" y="5266944"/>
            <a:ext cx="10874959" cy="841248"/>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700" b="1" lang="ja-JP">
                <a:solidFill>
                  <a:srgbClr val="E8380D"/>
                </a:solidFill>
                <a:latin typeface="Noto Sans JP"/>
                <a:ea typeface="Noto Sans JP"/>
                <a:cs typeface="Noto Sans JP"/>
              </a:rPr>
              <a:t>ここがズレていると、どれだけ頑張っても候補に入りません。</a:t>
            </a:r>
            <a:r>
              <a:rPr sz="1500" b="0" lang="ja-JP">
                <a:solidFill>
                  <a:srgbClr val="1F2735"/>
                </a:solidFill>
                <a:latin typeface="Noto Sans JP"/>
                <a:ea typeface="Noto Sans JP"/>
                <a:cs typeface="Noto Sans JP"/>
              </a:rPr>
              <a:t>　あとから変更できます。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2900" b="1" lang="ja-JP">
                <a:solidFill>
                  <a:srgbClr val="1B3A6B"/>
                </a:solidFill>
                <a:latin typeface="Noto Sans JP"/>
                <a:ea typeface="Noto Sans JP"/>
                <a:cs typeface="Noto Sans JP"/>
              </a:rPr>
              <a:t>住所・電話は、ホームページと一字一句そろえる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11</a:t>
            </a:r>
          </a:p>
        </p:txBody>
      </p:sp>
      <p:sp>
        <p:nvSpPr>
          <p:cNvPr id="5" name="Rounded Rectangle 4"/>
          <p:cNvSpPr/>
          <p:nvPr/>
        </p:nvSpPr>
        <p:spPr>
          <a:xfrm>
            <a:off x="658368" y="2121408"/>
            <a:ext cx="10874959" cy="3054096"/>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310896" tIns="223845" bIns="223845"/>
          <a:lstStyle/>
          <a:p>
            <a:pPr algn="l" eaLnBrk="1" hangingPunct="1">
              <a:lnSpc>
                <a:spcPct val="120000"/>
              </a:lnSpc>
              <a:spcAft>
                <a:spcPts val="1200"/>
              </a:spcAft>
            </a:pPr>
            <a:r>
              <a:rPr sz="1400" b="1" lang="ja-JP">
                <a:solidFill>
                  <a:srgbClr val="3D5F96"/>
                </a:solidFill>
                <a:latin typeface="Noto Sans JP"/>
                <a:ea typeface="Noto Sans JP"/>
                <a:cs typeface="Noto Sans JP"/>
              </a:rPr>
              <a:t>上から順にやれば終わります</a:t>
            </a:r>
          </a:p>
          <a:p>
            <a:pPr algn="l" eaLnBrk="1" hangingPunct="1" marL="310896" indent="-310896">
              <a:lnSpc>
                <a:spcPct val="130000"/>
              </a:lnSpc>
              <a:spcAft>
                <a:spcPts val="1100"/>
              </a:spcAft>
            </a:pPr>
            <a:r>
              <a:rPr sz="1500" b="1" lang="ja-JP">
                <a:solidFill>
                  <a:srgbClr val="1B3A6B"/>
                </a:solidFill>
                <a:latin typeface="Noto Sans JP"/>
                <a:ea typeface="Noto Sans JP"/>
                <a:cs typeface="Noto Sans JP"/>
              </a:rPr>
              <a:t>□　</a:t>
            </a:r>
            <a:r>
              <a:rPr sz="1500" b="1" lang="ja-JP">
                <a:solidFill>
                  <a:srgbClr val="1B3A6B"/>
                </a:solidFill>
                <a:latin typeface="Noto Sans JP"/>
                <a:ea typeface="Noto Sans JP"/>
                <a:cs typeface="Noto Sans JP"/>
              </a:rPr>
              <a:t>住所　</a:t>
            </a:r>
            <a:r>
              <a:rPr sz="1500" b="0" lang="ja-JP">
                <a:solidFill>
                  <a:srgbClr val="1F2735"/>
                </a:solidFill>
                <a:latin typeface="Noto Sans JP"/>
                <a:ea typeface="Noto Sans JP"/>
                <a:cs typeface="Noto Sans JP"/>
              </a:rPr>
              <a:t>番地・建物名・階数まで、ホームページと同じ書き方にする</a:t>
            </a:r>
          </a:p>
          <a:p>
            <a:pPr algn="l" eaLnBrk="1" hangingPunct="1" marL="310896" indent="-310896">
              <a:lnSpc>
                <a:spcPct val="130000"/>
              </a:lnSpc>
              <a:spcAft>
                <a:spcPts val="1100"/>
              </a:spcAft>
            </a:pPr>
            <a:r>
              <a:rPr sz="1500" b="1" lang="ja-JP">
                <a:solidFill>
                  <a:srgbClr val="1B3A6B"/>
                </a:solidFill>
                <a:latin typeface="Noto Sans JP"/>
                <a:ea typeface="Noto Sans JP"/>
                <a:cs typeface="Noto Sans JP"/>
              </a:rPr>
              <a:t>□　</a:t>
            </a:r>
            <a:r>
              <a:rPr sz="1500" b="1" lang="ja-JP">
                <a:solidFill>
                  <a:srgbClr val="1B3A6B"/>
                </a:solidFill>
                <a:latin typeface="Noto Sans JP"/>
                <a:ea typeface="Noto Sans JP"/>
                <a:cs typeface="Noto Sans JP"/>
              </a:rPr>
              <a:t>電話　</a:t>
            </a:r>
            <a:r>
              <a:rPr sz="1500" b="0" lang="ja-JP">
                <a:solidFill>
                  <a:srgbClr val="1F2735"/>
                </a:solidFill>
                <a:latin typeface="Noto Sans JP"/>
                <a:ea typeface="Noto Sans JP"/>
                <a:cs typeface="Noto Sans JP"/>
              </a:rPr>
              <a:t>ホームページと同じ番号にする。転送番号を使っているなら、どちらかにそろえる</a:t>
            </a:r>
          </a:p>
          <a:p>
            <a:pPr algn="l" eaLnBrk="1" hangingPunct="1" marL="310896" indent="-310896">
              <a:lnSpc>
                <a:spcPct val="130000"/>
              </a:lnSpc>
              <a:spcAft>
                <a:spcPts val="1100"/>
              </a:spcAft>
            </a:pPr>
            <a:r>
              <a:rPr sz="1500" b="1" lang="ja-JP">
                <a:solidFill>
                  <a:srgbClr val="1B3A6B"/>
                </a:solidFill>
                <a:latin typeface="Noto Sans JP"/>
                <a:ea typeface="Noto Sans JP"/>
                <a:cs typeface="Noto Sans JP"/>
              </a:rPr>
              <a:t>□　</a:t>
            </a:r>
            <a:r>
              <a:rPr sz="1500" b="1" lang="ja-JP">
                <a:solidFill>
                  <a:srgbClr val="1B3A6B"/>
                </a:solidFill>
                <a:latin typeface="Noto Sans JP"/>
                <a:ea typeface="Noto Sans JP"/>
                <a:cs typeface="Noto Sans JP"/>
              </a:rPr>
              <a:t>営業時間　</a:t>
            </a:r>
            <a:r>
              <a:rPr sz="1500" b="0" lang="ja-JP">
                <a:solidFill>
                  <a:srgbClr val="1F2735"/>
                </a:solidFill>
                <a:latin typeface="Noto Sans JP"/>
                <a:ea typeface="Noto Sans JP"/>
                <a:cs typeface="Noto Sans JP"/>
              </a:rPr>
              <a:t>受付終了が施術終了より早いなら、説明欄にその旨を書く</a:t>
            </a:r>
          </a:p>
          <a:p>
            <a:pPr algn="l" eaLnBrk="1" hangingPunct="1" marL="310896" indent="-310896">
              <a:lnSpc>
                <a:spcPct val="130000"/>
              </a:lnSpc>
              <a:spcAft>
                <a:spcPts val="1100"/>
              </a:spcAft>
            </a:pPr>
            <a:r>
              <a:rPr sz="1500" b="1" lang="ja-JP">
                <a:solidFill>
                  <a:srgbClr val="1B3A6B"/>
                </a:solidFill>
                <a:latin typeface="Noto Sans JP"/>
                <a:ea typeface="Noto Sans JP"/>
                <a:cs typeface="Noto Sans JP"/>
              </a:rPr>
              <a:t>□　</a:t>
            </a:r>
            <a:r>
              <a:rPr sz="1500" b="1" lang="ja-JP">
                <a:solidFill>
                  <a:srgbClr val="1B3A6B"/>
                </a:solidFill>
                <a:latin typeface="Noto Sans JP"/>
                <a:ea typeface="Noto Sans JP"/>
                <a:cs typeface="Noto Sans JP"/>
              </a:rPr>
              <a:t>臨時休診　</a:t>
            </a:r>
            <a:r>
              <a:rPr sz="1500" b="0" lang="ja-JP">
                <a:solidFill>
                  <a:srgbClr val="1F2735"/>
                </a:solidFill>
                <a:latin typeface="Noto Sans JP"/>
                <a:ea typeface="Noto Sans JP"/>
                <a:cs typeface="Noto Sans JP"/>
              </a:rPr>
              <a:t>お盆・年末年始・研修日は「特別営業時間」に入れておく</a:t>
            </a:r>
          </a:p>
          <a:p>
            <a:pPr algn="l" eaLnBrk="1" hangingPunct="1" marL="310896" indent="-310896">
              <a:lnSpc>
                <a:spcPct val="130000"/>
              </a:lnSpc>
            </a:pPr>
            <a:r>
              <a:rPr sz="1500" b="1" lang="ja-JP">
                <a:solidFill>
                  <a:srgbClr val="1B3A6B"/>
                </a:solidFill>
                <a:latin typeface="Noto Sans JP"/>
                <a:ea typeface="Noto Sans JP"/>
                <a:cs typeface="Noto Sans JP"/>
              </a:rPr>
              <a:t>□　</a:t>
            </a:r>
            <a:r>
              <a:rPr sz="1500" b="1" lang="ja-JP">
                <a:solidFill>
                  <a:srgbClr val="1B3A6B"/>
                </a:solidFill>
                <a:latin typeface="Noto Sans JP"/>
                <a:ea typeface="Noto Sans JP"/>
                <a:cs typeface="Noto Sans JP"/>
              </a:rPr>
              <a:t>予約リンク　</a:t>
            </a:r>
            <a:r>
              <a:rPr sz="1500" b="0" lang="ja-JP">
                <a:solidFill>
                  <a:srgbClr val="1F2735"/>
                </a:solidFill>
                <a:latin typeface="Noto Sans JP"/>
                <a:ea typeface="Noto Sans JP"/>
                <a:cs typeface="Noto Sans JP"/>
              </a:rPr>
              <a:t>電話・LINEなど、患者様が実際に使う導線を置く</a:t>
            </a:r>
          </a:p>
        </p:txBody>
      </p:sp>
      <p:sp>
        <p:nvSpPr>
          <p:cNvPr id="6" name="Rounded Rectangle 5"/>
          <p:cNvSpPr/>
          <p:nvPr/>
        </p:nvSpPr>
        <p:spPr>
          <a:xfrm>
            <a:off x="658368" y="5376672"/>
            <a:ext cx="10874959" cy="749808"/>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Noto Sans JP"/>
                <a:ea typeface="Noto Sans JP"/>
                <a:cs typeface="Noto Sans JP"/>
              </a:rPr>
              <a:t>やってはいけない　</a:t>
            </a:r>
            <a:r>
              <a:rPr sz="1300" b="0" lang="ja-JP">
                <a:solidFill>
                  <a:srgbClr val="1F2735"/>
                </a:solidFill>
                <a:latin typeface="Noto Sans JP"/>
                <a:ea typeface="Noto Sans JP"/>
                <a:cs typeface="Noto Sans JP"/>
              </a:rPr>
              <a:t>実態のない住所（自宅やレンタル住所）での登録。掲載停止の対象になります。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792224"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②　写真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まずは、この6枚をそろえる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12</a:t>
            </a:r>
          </a:p>
        </p:txBody>
      </p:sp>
      <p:sp>
        <p:nvSpPr>
          <p:cNvPr id="5" name="Rounded Rectangle 4"/>
          <p:cNvSpPr/>
          <p:nvPr/>
        </p:nvSpPr>
        <p:spPr>
          <a:xfrm>
            <a:off x="658368" y="1883664"/>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Noto Sans JP"/>
                <a:ea typeface="Noto Sans JP"/>
                <a:cs typeface="Noto Sans JP"/>
              </a:rPr>
              <a:t>［画像］</a:t>
            </a:r>
          </a:p>
          <a:p>
            <a:pPr algn="ctr" eaLnBrk="1" hangingPunct="1">
              <a:lnSpc>
                <a:spcPct val="130000"/>
              </a:lnSpc>
            </a:pPr>
            <a:r>
              <a:rPr sz="1300" b="1" lang="ja-JP">
                <a:solidFill>
                  <a:srgbClr val="1B3A6B"/>
                </a:solidFill>
                <a:latin typeface="Noto Sans JP"/>
                <a:ea typeface="Noto Sans JP"/>
                <a:cs typeface="Noto Sans JP"/>
              </a:rPr>
              <a:t>外観</a:t>
            </a:r>
          </a:p>
          <a:p>
            <a:pPr algn="ctr" eaLnBrk="1" hangingPunct="1">
              <a:lnSpc>
                <a:spcPct val="130000"/>
              </a:lnSpc>
            </a:pPr>
            <a:r>
              <a:rPr sz="1100" b="0" lang="ja-JP">
                <a:solidFill>
                  <a:srgbClr val="6B7587"/>
                </a:solidFill>
                <a:latin typeface="Noto Sans JP"/>
                <a:ea typeface="Noto Sans JP"/>
                <a:cs typeface="Noto Sans JP"/>
              </a:rPr>
              <a:t>建物の全景と看板が入るように</a:t>
            </a:r>
          </a:p>
        </p:txBody>
      </p:sp>
      <p:sp>
        <p:nvSpPr>
          <p:cNvPr id="6" name="Rounded Rectangle 5"/>
          <p:cNvSpPr/>
          <p:nvPr/>
        </p:nvSpPr>
        <p:spPr>
          <a:xfrm>
            <a:off x="4334255" y="1883664"/>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Noto Sans JP"/>
                <a:ea typeface="Noto Sans JP"/>
                <a:cs typeface="Noto Sans JP"/>
              </a:rPr>
              <a:t>［画像］</a:t>
            </a:r>
          </a:p>
          <a:p>
            <a:pPr algn="ctr" eaLnBrk="1" hangingPunct="1">
              <a:lnSpc>
                <a:spcPct val="130000"/>
              </a:lnSpc>
            </a:pPr>
            <a:r>
              <a:rPr sz="1300" b="1" lang="ja-JP">
                <a:solidFill>
                  <a:srgbClr val="1B3A6B"/>
                </a:solidFill>
                <a:latin typeface="Noto Sans JP"/>
                <a:ea typeface="Noto Sans JP"/>
                <a:cs typeface="Noto Sans JP"/>
              </a:rPr>
              <a:t>入口</a:t>
            </a:r>
          </a:p>
          <a:p>
            <a:pPr algn="ctr" eaLnBrk="1" hangingPunct="1">
              <a:lnSpc>
                <a:spcPct val="130000"/>
              </a:lnSpc>
            </a:pPr>
            <a:r>
              <a:rPr sz="1100" b="0" lang="ja-JP">
                <a:solidFill>
                  <a:srgbClr val="6B7587"/>
                </a:solidFill>
                <a:latin typeface="Noto Sans JP"/>
                <a:ea typeface="Noto Sans JP"/>
                <a:cs typeface="Noto Sans JP"/>
              </a:rPr>
              <a:t>どのドアから入るのかが分かるように</a:t>
            </a:r>
          </a:p>
        </p:txBody>
      </p:sp>
      <p:sp>
        <p:nvSpPr>
          <p:cNvPr id="7" name="Rounded Rectangle 6"/>
          <p:cNvSpPr/>
          <p:nvPr/>
        </p:nvSpPr>
        <p:spPr>
          <a:xfrm>
            <a:off x="8010144" y="1883664"/>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Noto Sans JP"/>
                <a:ea typeface="Noto Sans JP"/>
                <a:cs typeface="Noto Sans JP"/>
              </a:rPr>
              <a:t>［画像］</a:t>
            </a:r>
          </a:p>
          <a:p>
            <a:pPr algn="ctr" eaLnBrk="1" hangingPunct="1">
              <a:lnSpc>
                <a:spcPct val="130000"/>
              </a:lnSpc>
            </a:pPr>
            <a:r>
              <a:rPr sz="1300" b="1" lang="ja-JP">
                <a:solidFill>
                  <a:srgbClr val="1B3A6B"/>
                </a:solidFill>
                <a:latin typeface="Noto Sans JP"/>
                <a:ea typeface="Noto Sans JP"/>
                <a:cs typeface="Noto Sans JP"/>
              </a:rPr>
              <a:t>受付</a:t>
            </a:r>
          </a:p>
          <a:p>
            <a:pPr algn="ctr" eaLnBrk="1" hangingPunct="1">
              <a:lnSpc>
                <a:spcPct val="130000"/>
              </a:lnSpc>
            </a:pPr>
            <a:r>
              <a:rPr sz="1100" b="0" lang="ja-JP">
                <a:solidFill>
                  <a:srgbClr val="6B7587"/>
                </a:solidFill>
                <a:latin typeface="Noto Sans JP"/>
                <a:ea typeface="Noto Sans JP"/>
                <a:cs typeface="Noto Sans JP"/>
              </a:rPr>
              <a:t>入ってすぐの景色。明るさが伝わるように</a:t>
            </a:r>
          </a:p>
        </p:txBody>
      </p:sp>
      <p:sp>
        <p:nvSpPr>
          <p:cNvPr id="8" name="Rounded Rectangle 7"/>
          <p:cNvSpPr/>
          <p:nvPr/>
        </p:nvSpPr>
        <p:spPr>
          <a:xfrm>
            <a:off x="658368" y="3584448"/>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Noto Sans JP"/>
                <a:ea typeface="Noto Sans JP"/>
                <a:cs typeface="Noto Sans JP"/>
              </a:rPr>
              <a:t>［画像］</a:t>
            </a:r>
          </a:p>
          <a:p>
            <a:pPr algn="ctr" eaLnBrk="1" hangingPunct="1">
              <a:lnSpc>
                <a:spcPct val="130000"/>
              </a:lnSpc>
            </a:pPr>
            <a:r>
              <a:rPr sz="1300" b="1" lang="ja-JP">
                <a:solidFill>
                  <a:srgbClr val="1B3A6B"/>
                </a:solidFill>
                <a:latin typeface="Noto Sans JP"/>
                <a:ea typeface="Noto Sans JP"/>
                <a:cs typeface="Noto Sans JP"/>
              </a:rPr>
              <a:t>施術スペース</a:t>
            </a:r>
          </a:p>
          <a:p>
            <a:pPr algn="ctr" eaLnBrk="1" hangingPunct="1">
              <a:lnSpc>
                <a:spcPct val="130000"/>
              </a:lnSpc>
            </a:pPr>
            <a:r>
              <a:rPr sz="1100" b="0" lang="ja-JP">
                <a:solidFill>
                  <a:srgbClr val="6B7587"/>
                </a:solidFill>
                <a:latin typeface="Noto Sans JP"/>
                <a:ea typeface="Noto Sans JP"/>
                <a:cs typeface="Noto Sans JP"/>
              </a:rPr>
              <a:t>ベッドまわり。片づいた状態で</a:t>
            </a:r>
          </a:p>
        </p:txBody>
      </p:sp>
      <p:sp>
        <p:nvSpPr>
          <p:cNvPr id="9" name="Rounded Rectangle 8"/>
          <p:cNvSpPr/>
          <p:nvPr/>
        </p:nvSpPr>
        <p:spPr>
          <a:xfrm>
            <a:off x="4334255" y="3584448"/>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Noto Sans JP"/>
                <a:ea typeface="Noto Sans JP"/>
                <a:cs typeface="Noto Sans JP"/>
              </a:rPr>
              <a:t>［画像］</a:t>
            </a:r>
          </a:p>
          <a:p>
            <a:pPr algn="ctr" eaLnBrk="1" hangingPunct="1">
              <a:lnSpc>
                <a:spcPct val="130000"/>
              </a:lnSpc>
            </a:pPr>
            <a:r>
              <a:rPr sz="1300" b="1" lang="ja-JP">
                <a:solidFill>
                  <a:srgbClr val="1B3A6B"/>
                </a:solidFill>
                <a:latin typeface="Noto Sans JP"/>
                <a:ea typeface="Noto Sans JP"/>
                <a:cs typeface="Noto Sans JP"/>
              </a:rPr>
              <a:t>スタッフ</a:t>
            </a:r>
          </a:p>
          <a:p>
            <a:pPr algn="ctr" eaLnBrk="1" hangingPunct="1">
              <a:lnSpc>
                <a:spcPct val="130000"/>
              </a:lnSpc>
            </a:pPr>
            <a:r>
              <a:rPr sz="1100" b="0" lang="ja-JP">
                <a:solidFill>
                  <a:srgbClr val="6B7587"/>
                </a:solidFill>
                <a:latin typeface="Noto Sans JP"/>
                <a:ea typeface="Noto Sans JP"/>
                <a:cs typeface="Noto Sans JP"/>
              </a:rPr>
              <a:t>先生の顔が分かるように。笑顔で</a:t>
            </a:r>
          </a:p>
        </p:txBody>
      </p:sp>
      <p:sp>
        <p:nvSpPr>
          <p:cNvPr id="10" name="Rounded Rectangle 9"/>
          <p:cNvSpPr/>
          <p:nvPr/>
        </p:nvSpPr>
        <p:spPr>
          <a:xfrm>
            <a:off x="8010144" y="3584448"/>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Noto Sans JP"/>
                <a:ea typeface="Noto Sans JP"/>
                <a:cs typeface="Noto Sans JP"/>
              </a:rPr>
              <a:t>［画像］</a:t>
            </a:r>
          </a:p>
          <a:p>
            <a:pPr algn="ctr" eaLnBrk="1" hangingPunct="1">
              <a:lnSpc>
                <a:spcPct val="130000"/>
              </a:lnSpc>
            </a:pPr>
            <a:r>
              <a:rPr sz="1300" b="1" lang="ja-JP">
                <a:solidFill>
                  <a:srgbClr val="1B3A6B"/>
                </a:solidFill>
                <a:latin typeface="Noto Sans JP"/>
                <a:ea typeface="Noto Sans JP"/>
                <a:cs typeface="Noto Sans JP"/>
              </a:rPr>
              <a:t>駐車場</a:t>
            </a:r>
          </a:p>
          <a:p>
            <a:pPr algn="ctr" eaLnBrk="1" hangingPunct="1">
              <a:lnSpc>
                <a:spcPct val="130000"/>
              </a:lnSpc>
            </a:pPr>
            <a:r>
              <a:rPr sz="1100" b="0" lang="ja-JP">
                <a:solidFill>
                  <a:srgbClr val="6B7587"/>
                </a:solidFill>
                <a:latin typeface="Noto Sans JP"/>
                <a:ea typeface="Noto Sans JP"/>
                <a:cs typeface="Noto Sans JP"/>
              </a:rPr>
              <a:t>停められる台数と、位置が分かるように</a:t>
            </a:r>
          </a:p>
        </p:txBody>
      </p:sp>
      <p:sp>
        <p:nvSpPr>
          <p:cNvPr id="11" name="Rounded Rectangle 10"/>
          <p:cNvSpPr/>
          <p:nvPr/>
        </p:nvSpPr>
        <p:spPr>
          <a:xfrm>
            <a:off x="658368" y="5504688"/>
            <a:ext cx="10874959" cy="786384"/>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700" b="1" lang="ja-JP">
                <a:solidFill>
                  <a:srgbClr val="1B3A6B"/>
                </a:solidFill>
                <a:latin typeface="Noto Sans JP"/>
                <a:ea typeface="Noto Sans JP"/>
                <a:cs typeface="Noto Sans JP"/>
              </a:rPr>
              <a:t>スマホ撮影で十分です。</a:t>
            </a:r>
            <a:r>
              <a:rPr sz="1500" b="0" lang="ja-JP">
                <a:solidFill>
                  <a:srgbClr val="1F2735"/>
                </a:solidFill>
                <a:latin typeface="Noto Sans JP"/>
                <a:ea typeface="Noto Sans JP"/>
                <a:cs typeface="Noto Sans JP"/>
              </a:rPr>
              <a:t>　明るい時間に、横向きで、まっすぐ撮ってください。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792224"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②　写真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基準は「初めての患者様が、迷わないか」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13</a:t>
            </a:r>
          </a:p>
        </p:txBody>
      </p:sp>
      <p:sp>
        <p:nvSpPr>
          <p:cNvPr id="5" name="Rounded Rectangle 4"/>
          <p:cNvSpPr/>
          <p:nvPr/>
        </p:nvSpPr>
        <p:spPr>
          <a:xfrm>
            <a:off x="658368" y="1883664"/>
            <a:ext cx="5285232" cy="201168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Noto Sans JP"/>
                <a:ea typeface="Noto Sans JP"/>
                <a:cs typeface="Noto Sans JP"/>
              </a:rPr>
              <a:t>迷わせない（たどり着ける）</a:t>
            </a:r>
          </a:p>
          <a:p>
            <a:pPr algn="l" eaLnBrk="1" hangingPunct="1">
              <a:lnSpc>
                <a:spcPct val="130000"/>
              </a:lnSpc>
              <a:spcAft>
                <a:spcPts val="700"/>
              </a:spcAft>
            </a:pPr>
            <a:r>
              <a:rPr sz="1400" b="0" lang="ja-JP">
                <a:solidFill>
                  <a:srgbClr val="1F2735"/>
                </a:solidFill>
                <a:latin typeface="Noto Sans JP"/>
                <a:ea typeface="Noto Sans JP"/>
                <a:cs typeface="Noto Sans JP"/>
              </a:rPr>
              <a:t>建物の全景と看板が分かる</a:t>
            </a:r>
          </a:p>
          <a:p>
            <a:pPr algn="l" eaLnBrk="1" hangingPunct="1">
              <a:lnSpc>
                <a:spcPct val="130000"/>
              </a:lnSpc>
              <a:spcAft>
                <a:spcPts val="700"/>
              </a:spcAft>
            </a:pPr>
            <a:r>
              <a:rPr sz="1400" b="0" lang="ja-JP">
                <a:solidFill>
                  <a:srgbClr val="1F2735"/>
                </a:solidFill>
                <a:latin typeface="Noto Sans JP"/>
                <a:ea typeface="Noto Sans JP"/>
                <a:cs typeface="Noto Sans JP"/>
              </a:rPr>
              <a:t>入口のドアと、その前の景色が分かる</a:t>
            </a:r>
          </a:p>
          <a:p>
            <a:pPr algn="l" eaLnBrk="1" hangingPunct="1">
              <a:lnSpc>
                <a:spcPct val="130000"/>
              </a:lnSpc>
            </a:pPr>
            <a:r>
              <a:rPr sz="1400" b="0" lang="ja-JP">
                <a:solidFill>
                  <a:srgbClr val="1F2735"/>
                </a:solidFill>
                <a:latin typeface="Noto Sans JP"/>
                <a:ea typeface="Noto Sans JP"/>
                <a:cs typeface="Noto Sans JP"/>
              </a:rPr>
              <a:t>駐車場の位置と、停め方が分かる</a:t>
            </a:r>
          </a:p>
        </p:txBody>
      </p:sp>
      <p:sp>
        <p:nvSpPr>
          <p:cNvPr id="6" name="Rounded Rectangle 5"/>
          <p:cNvSpPr/>
          <p:nvPr/>
        </p:nvSpPr>
        <p:spPr>
          <a:xfrm>
            <a:off x="6245352" y="1883664"/>
            <a:ext cx="5285232" cy="201168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FFC20E"/>
                </a:solidFill>
                <a:latin typeface="Noto Sans JP"/>
                <a:ea typeface="Noto Sans JP"/>
                <a:cs typeface="Noto Sans JP"/>
              </a:rPr>
              <a:t>不安にさせない（入ってみようと思える）</a:t>
            </a:r>
          </a:p>
          <a:p>
            <a:pPr algn="l" eaLnBrk="1" hangingPunct="1">
              <a:lnSpc>
                <a:spcPct val="130000"/>
              </a:lnSpc>
              <a:spcAft>
                <a:spcPts val="700"/>
              </a:spcAft>
            </a:pPr>
            <a:r>
              <a:rPr sz="1400" b="0" lang="ja-JP">
                <a:solidFill>
                  <a:srgbClr val="FFFFFF"/>
                </a:solidFill>
                <a:latin typeface="Noto Sans JP"/>
                <a:ea typeface="Noto Sans JP"/>
                <a:cs typeface="Noto Sans JP"/>
              </a:rPr>
              <a:t>院内が明るく写っている</a:t>
            </a:r>
          </a:p>
          <a:p>
            <a:pPr algn="l" eaLnBrk="1" hangingPunct="1">
              <a:lnSpc>
                <a:spcPct val="130000"/>
              </a:lnSpc>
              <a:spcAft>
                <a:spcPts val="700"/>
              </a:spcAft>
            </a:pPr>
            <a:r>
              <a:rPr sz="1400" b="0" lang="ja-JP">
                <a:solidFill>
                  <a:srgbClr val="FFFFFF"/>
                </a:solidFill>
                <a:latin typeface="Noto Sans JP"/>
                <a:ea typeface="Noto Sans JP"/>
                <a:cs typeface="Noto Sans JP"/>
              </a:rPr>
              <a:t>スタッフの顔が見える</a:t>
            </a:r>
          </a:p>
          <a:p>
            <a:pPr algn="l" eaLnBrk="1" hangingPunct="1">
              <a:lnSpc>
                <a:spcPct val="130000"/>
              </a:lnSpc>
            </a:pPr>
            <a:r>
              <a:rPr sz="1400" b="0" lang="ja-JP">
                <a:solidFill>
                  <a:srgbClr val="FFFFFF"/>
                </a:solidFill>
                <a:latin typeface="Noto Sans JP"/>
                <a:ea typeface="Noto Sans JP"/>
                <a:cs typeface="Noto Sans JP"/>
              </a:rPr>
              <a:t>物が出ていない、片づいている</a:t>
            </a:r>
          </a:p>
        </p:txBody>
      </p:sp>
      <p:sp>
        <p:nvSpPr>
          <p:cNvPr id="7" name="Rounded Rectangle 6"/>
          <p:cNvSpPr/>
          <p:nvPr/>
        </p:nvSpPr>
        <p:spPr>
          <a:xfrm>
            <a:off x="658368" y="4078224"/>
            <a:ext cx="5285232" cy="1225296"/>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Noto Sans JP"/>
                <a:ea typeface="Noto Sans JP"/>
                <a:cs typeface="Noto Sans JP"/>
              </a:rPr>
              <a:t>［画像］</a:t>
            </a:r>
          </a:p>
          <a:p>
            <a:pPr algn="ctr" eaLnBrk="1" hangingPunct="1">
              <a:lnSpc>
                <a:spcPct val="130000"/>
              </a:lnSpc>
            </a:pPr>
            <a:r>
              <a:rPr sz="1200" b="1" lang="ja-JP">
                <a:solidFill>
                  <a:srgbClr val="1B3A6B"/>
                </a:solidFill>
                <a:latin typeface="Noto Sans JP"/>
                <a:ea typeface="Noto Sans JP"/>
                <a:cs typeface="Noto Sans JP"/>
              </a:rPr>
              <a:t>良い例</a:t>
            </a:r>
          </a:p>
          <a:p>
            <a:pPr algn="ctr" eaLnBrk="1" hangingPunct="1">
              <a:lnSpc>
                <a:spcPct val="130000"/>
              </a:lnSpc>
            </a:pPr>
            <a:r>
              <a:rPr sz="1000" b="0" lang="ja-JP">
                <a:solidFill>
                  <a:srgbClr val="6B7587"/>
                </a:solidFill>
                <a:latin typeface="Noto Sans JP"/>
                <a:ea typeface="Noto Sans JP"/>
                <a:cs typeface="Noto Sans JP"/>
              </a:rPr>
              <a:t>看板と入口が一緒に写った外観</a:t>
            </a:r>
          </a:p>
        </p:txBody>
      </p:sp>
      <p:sp>
        <p:nvSpPr>
          <p:cNvPr id="8" name="Rounded Rectangle 7"/>
          <p:cNvSpPr/>
          <p:nvPr/>
        </p:nvSpPr>
        <p:spPr>
          <a:xfrm>
            <a:off x="6245352" y="4078224"/>
            <a:ext cx="5285232" cy="1225296"/>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Noto Sans JP"/>
                <a:ea typeface="Noto Sans JP"/>
                <a:cs typeface="Noto Sans JP"/>
              </a:rPr>
              <a:t>［画像］</a:t>
            </a:r>
          </a:p>
          <a:p>
            <a:pPr algn="ctr" eaLnBrk="1" hangingPunct="1">
              <a:lnSpc>
                <a:spcPct val="130000"/>
              </a:lnSpc>
            </a:pPr>
            <a:r>
              <a:rPr sz="1200" b="1" lang="ja-JP">
                <a:solidFill>
                  <a:srgbClr val="1B3A6B"/>
                </a:solidFill>
                <a:latin typeface="Noto Sans JP"/>
                <a:ea typeface="Noto Sans JP"/>
                <a:cs typeface="Noto Sans JP"/>
              </a:rPr>
              <a:t>惜しい例</a:t>
            </a:r>
          </a:p>
          <a:p>
            <a:pPr algn="ctr" eaLnBrk="1" hangingPunct="1">
              <a:lnSpc>
                <a:spcPct val="130000"/>
              </a:lnSpc>
            </a:pPr>
            <a:r>
              <a:rPr sz="1000" b="0" lang="ja-JP">
                <a:solidFill>
                  <a:srgbClr val="6B7587"/>
                </a:solidFill>
                <a:latin typeface="Noto Sans JP"/>
                <a:ea typeface="Noto Sans JP"/>
                <a:cs typeface="Noto Sans JP"/>
              </a:rPr>
              <a:t>引きすぎて、どこから入るか分からない外観</a:t>
            </a:r>
          </a:p>
        </p:txBody>
      </p:sp>
      <p:sp>
        <p:nvSpPr>
          <p:cNvPr id="9" name="Rounded Rectangle 8"/>
          <p:cNvSpPr/>
          <p:nvPr/>
        </p:nvSpPr>
        <p:spPr>
          <a:xfrm>
            <a:off x="658368" y="5614416"/>
            <a:ext cx="10874959" cy="713232"/>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Noto Sans JP"/>
                <a:ea typeface="Noto Sans JP"/>
                <a:cs typeface="Noto Sans JP"/>
              </a:rPr>
              <a:t>やってはいけない　</a:t>
            </a:r>
            <a:r>
              <a:rPr sz="1300" b="0" lang="ja-JP">
                <a:solidFill>
                  <a:srgbClr val="1F2735"/>
                </a:solidFill>
                <a:latin typeface="Noto Sans JP"/>
                <a:ea typeface="Noto Sans JP"/>
                <a:cs typeface="Noto Sans JP"/>
              </a:rPr>
              <a:t>他院の写真やフリー素材を使うこと。実物と違うと、来院時のがっかりにつながります。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93852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③　口コミ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口コミで見られているのは、この4点</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14</a:t>
            </a:r>
          </a:p>
        </p:txBody>
      </p:sp>
      <p:sp>
        <p:nvSpPr>
          <p:cNvPr id="5" name="Rounded Rectangle 4"/>
          <p:cNvSpPr/>
          <p:nvPr/>
        </p:nvSpPr>
        <p:spPr>
          <a:xfrm>
            <a:off x="65836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星の数</a:t>
            </a:r>
          </a:p>
          <a:p>
            <a:pPr algn="l" eaLnBrk="1" hangingPunct="1">
              <a:lnSpc>
                <a:spcPct val="145000"/>
              </a:lnSpc>
            </a:pPr>
            <a:r>
              <a:rPr sz="1300" b="0" lang="ja-JP">
                <a:solidFill>
                  <a:srgbClr val="1F2735"/>
                </a:solidFill>
                <a:latin typeface="Noto Sans JP"/>
                <a:ea typeface="Noto Sans JP"/>
                <a:cs typeface="Noto Sans JP"/>
              </a:rPr>
              <a:t>まず目に入ります。極端に低くないか。</a:t>
            </a:r>
          </a:p>
        </p:txBody>
      </p:sp>
      <p:sp>
        <p:nvSpPr>
          <p:cNvPr id="6" name="Oval 5"/>
          <p:cNvSpPr/>
          <p:nvPr/>
        </p:nvSpPr>
        <p:spPr>
          <a:xfrm>
            <a:off x="89611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1</a:t>
            </a:r>
          </a:p>
        </p:txBody>
      </p:sp>
      <p:sp>
        <p:nvSpPr>
          <p:cNvPr id="7" name="Rounded Rectangle 6"/>
          <p:cNvSpPr/>
          <p:nvPr/>
        </p:nvSpPr>
        <p:spPr>
          <a:xfrm>
            <a:off x="344728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件数</a:t>
            </a:r>
          </a:p>
          <a:p>
            <a:pPr algn="l" eaLnBrk="1" hangingPunct="1">
              <a:lnSpc>
                <a:spcPct val="145000"/>
              </a:lnSpc>
            </a:pPr>
            <a:r>
              <a:rPr sz="1300" b="0" lang="ja-JP">
                <a:solidFill>
                  <a:srgbClr val="1F2735"/>
                </a:solidFill>
                <a:latin typeface="Noto Sans JP"/>
                <a:ea typeface="Noto Sans JP"/>
                <a:cs typeface="Noto Sans JP"/>
              </a:rPr>
              <a:t>少なすぎると、判断の材料になりません。</a:t>
            </a:r>
          </a:p>
        </p:txBody>
      </p:sp>
      <p:sp>
        <p:nvSpPr>
          <p:cNvPr id="8" name="Oval 7"/>
          <p:cNvSpPr/>
          <p:nvPr/>
        </p:nvSpPr>
        <p:spPr>
          <a:xfrm>
            <a:off x="368503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2</a:t>
            </a:r>
          </a:p>
        </p:txBody>
      </p:sp>
      <p:sp>
        <p:nvSpPr>
          <p:cNvPr id="9" name="Rounded Rectangle 8"/>
          <p:cNvSpPr/>
          <p:nvPr/>
        </p:nvSpPr>
        <p:spPr>
          <a:xfrm>
            <a:off x="623620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新しさ</a:t>
            </a:r>
          </a:p>
          <a:p>
            <a:pPr algn="l" eaLnBrk="1" hangingPunct="1">
              <a:lnSpc>
                <a:spcPct val="145000"/>
              </a:lnSpc>
            </a:pPr>
            <a:r>
              <a:rPr sz="1300" b="0" lang="ja-JP">
                <a:solidFill>
                  <a:srgbClr val="1F2735"/>
                </a:solidFill>
                <a:latin typeface="Noto Sans JP"/>
                <a:ea typeface="Noto Sans JP"/>
                <a:cs typeface="Noto Sans JP"/>
              </a:rPr>
              <a:t>最近も書かれているか。今の院かどうか。</a:t>
            </a:r>
          </a:p>
        </p:txBody>
      </p:sp>
      <p:sp>
        <p:nvSpPr>
          <p:cNvPr id="10" name="Oval 9"/>
          <p:cNvSpPr/>
          <p:nvPr/>
        </p:nvSpPr>
        <p:spPr>
          <a:xfrm>
            <a:off x="647395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3</a:t>
            </a:r>
          </a:p>
        </p:txBody>
      </p:sp>
      <p:sp>
        <p:nvSpPr>
          <p:cNvPr id="11" name="Rounded Rectangle 10"/>
          <p:cNvSpPr/>
          <p:nvPr/>
        </p:nvSpPr>
        <p:spPr>
          <a:xfrm>
            <a:off x="902512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Noto Sans JP"/>
                <a:ea typeface="Noto Sans JP"/>
                <a:cs typeface="Noto Sans JP"/>
              </a:rPr>
              <a:t/>
            </a:r>
          </a:p>
          <a:p>
            <a:pPr algn="l" eaLnBrk="1" hangingPunct="1">
              <a:lnSpc>
                <a:spcPct val="120000"/>
              </a:lnSpc>
              <a:spcAft>
                <a:spcPts val="800"/>
              </a:spcAft>
            </a:pPr>
            <a:r>
              <a:rPr sz="1700" b="1" lang="ja-JP">
                <a:solidFill>
                  <a:srgbClr val="1B3A6B"/>
                </a:solidFill>
                <a:latin typeface="Noto Sans JP"/>
                <a:ea typeface="Noto Sans JP"/>
                <a:cs typeface="Noto Sans JP"/>
              </a:rPr>
              <a:t>返信の有無</a:t>
            </a:r>
          </a:p>
          <a:p>
            <a:pPr algn="l" eaLnBrk="1" hangingPunct="1">
              <a:lnSpc>
                <a:spcPct val="145000"/>
              </a:lnSpc>
            </a:pPr>
            <a:r>
              <a:rPr sz="1300" b="0" lang="ja-JP">
                <a:solidFill>
                  <a:srgbClr val="1F2735"/>
                </a:solidFill>
                <a:latin typeface="Noto Sans JP"/>
                <a:ea typeface="Noto Sans JP"/>
                <a:cs typeface="Noto Sans JP"/>
              </a:rPr>
              <a:t>返している院は、印象がよくなります。</a:t>
            </a:r>
          </a:p>
        </p:txBody>
      </p:sp>
      <p:sp>
        <p:nvSpPr>
          <p:cNvPr id="12" name="Oval 11"/>
          <p:cNvSpPr/>
          <p:nvPr/>
        </p:nvSpPr>
        <p:spPr>
          <a:xfrm>
            <a:off x="926287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Noto Sans JP"/>
                <a:ea typeface="Noto Sans JP"/>
                <a:cs typeface="Noto Sans JP"/>
              </a:rPr>
              <a:t>4</a:t>
            </a:r>
          </a:p>
        </p:txBody>
      </p:sp>
      <p:sp>
        <p:nvSpPr>
          <p:cNvPr id="13" name="Rounded Rectangle 12"/>
          <p:cNvSpPr/>
          <p:nvPr/>
        </p:nvSpPr>
        <p:spPr>
          <a:xfrm>
            <a:off x="658368" y="4498848"/>
            <a:ext cx="10874959" cy="1298448"/>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800" b="1" lang="ja-JP">
                <a:solidFill>
                  <a:srgbClr val="1F2735"/>
                </a:solidFill>
                <a:latin typeface="Noto Sans JP"/>
                <a:ea typeface="Noto Sans JP"/>
                <a:cs typeface="Noto Sans JP"/>
              </a:rPr>
              <a:t>星が高くても、最後の口コミがずっと前だと、</a:t>
            </a:r>
            <a:r>
              <a:rPr sz="1800" b="1" lang="ja-JP">
                <a:solidFill>
                  <a:srgbClr val="E8380D"/>
                </a:solidFill>
                <a:latin typeface="Noto Sans JP"/>
                <a:ea typeface="Noto Sans JP"/>
                <a:cs typeface="Noto Sans JP"/>
              </a:rPr>
              <a:t>「今もやっているのかな」</a:t>
            </a:r>
            <a:r>
              <a:rPr sz="1800" b="1" lang="ja-JP">
                <a:solidFill>
                  <a:srgbClr val="1F2735"/>
                </a:solidFill>
                <a:latin typeface="Noto Sans JP"/>
                <a:ea typeface="Noto Sans JP"/>
                <a:cs typeface="Noto Sans JP"/>
              </a:rPr>
              <a:t>と思われます。</a:t>
            </a:r>
          </a:p>
          <a:p>
            <a:pPr algn="l" eaLnBrk="1" hangingPunct="1">
              <a:lnSpc>
                <a:spcPct val="130000"/>
              </a:lnSpc>
            </a:pPr>
            <a:r>
              <a:rPr sz="1500" b="0" lang="ja-JP">
                <a:solidFill>
                  <a:srgbClr val="1F2735"/>
                </a:solidFill>
                <a:latin typeface="Noto Sans JP"/>
                <a:ea typeface="Noto Sans JP"/>
                <a:cs typeface="Noto Sans JP"/>
              </a:rPr>
              <a:t>数を集めることより、途切れさせないことのほうが大事です。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93852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③　口コミ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口コミは「お願いする」から増えます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15</a:t>
            </a:r>
          </a:p>
        </p:txBody>
      </p:sp>
      <p:sp>
        <p:nvSpPr>
          <p:cNvPr id="5" name="Rounded Rectangle 4"/>
          <p:cNvSpPr/>
          <p:nvPr/>
        </p:nvSpPr>
        <p:spPr>
          <a:xfrm>
            <a:off x="658368" y="1883664"/>
            <a:ext cx="4709160" cy="2487168"/>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Noto Sans JP"/>
                <a:ea typeface="Noto Sans JP"/>
                <a:cs typeface="Noto Sans JP"/>
              </a:rPr>
              <a:t>お願いするタイミング</a:t>
            </a:r>
          </a:p>
          <a:p>
            <a:pPr algn="l" eaLnBrk="1" hangingPunct="1">
              <a:lnSpc>
                <a:spcPct val="130000"/>
              </a:lnSpc>
              <a:spcAft>
                <a:spcPts val="800"/>
              </a:spcAft>
            </a:pPr>
            <a:r>
              <a:rPr sz="1400" b="0" lang="ja-JP">
                <a:solidFill>
                  <a:srgbClr val="1F2735"/>
                </a:solidFill>
                <a:latin typeface="Noto Sans JP"/>
                <a:ea typeface="Noto Sans JP"/>
                <a:cs typeface="Noto Sans JP"/>
              </a:rPr>
              <a:t>痛みが軽くなって、表情がゆるんだ直後</a:t>
            </a:r>
          </a:p>
          <a:p>
            <a:pPr algn="l" eaLnBrk="1" hangingPunct="1">
              <a:lnSpc>
                <a:spcPct val="130000"/>
              </a:lnSpc>
              <a:spcAft>
                <a:spcPts val="800"/>
              </a:spcAft>
            </a:pPr>
            <a:r>
              <a:rPr sz="1400" b="0" lang="ja-JP">
                <a:solidFill>
                  <a:srgbClr val="1F2735"/>
                </a:solidFill>
                <a:latin typeface="Noto Sans JP"/>
                <a:ea typeface="Noto Sans JP"/>
                <a:cs typeface="Noto Sans JP"/>
              </a:rPr>
              <a:t>「楽になりました」と言っていただけたとき</a:t>
            </a:r>
          </a:p>
          <a:p>
            <a:pPr algn="l" eaLnBrk="1" hangingPunct="1">
              <a:lnSpc>
                <a:spcPct val="130000"/>
              </a:lnSpc>
              <a:spcAft>
                <a:spcPts val="1200"/>
              </a:spcAft>
            </a:pPr>
            <a:r>
              <a:rPr sz="1400" b="0" lang="ja-JP">
                <a:solidFill>
                  <a:srgbClr val="1F2735"/>
                </a:solidFill>
                <a:latin typeface="Noto Sans JP"/>
                <a:ea typeface="Noto Sans JP"/>
                <a:cs typeface="Noto Sans JP"/>
              </a:rPr>
              <a:t>何回か通って、良い変化が出たとき</a:t>
            </a:r>
          </a:p>
          <a:p>
            <a:pPr algn="l" eaLnBrk="1" hangingPunct="1">
              <a:lnSpc>
                <a:spcPct val="130000"/>
              </a:lnSpc>
            </a:pPr>
            <a:r>
              <a:rPr sz="1400" b="1" lang="ja-JP">
                <a:solidFill>
                  <a:srgbClr val="1B3A6B"/>
                </a:solidFill>
                <a:latin typeface="Noto Sans JP"/>
                <a:ea typeface="Noto Sans JP"/>
                <a:cs typeface="Noto Sans JP"/>
              </a:rPr>
              <a:t>渡し方　</a:t>
            </a:r>
            <a:r>
              <a:rPr sz="1300" b="0" lang="ja-JP">
                <a:solidFill>
                  <a:srgbClr val="6B7587"/>
                </a:solidFill>
                <a:latin typeface="Noto Sans JP"/>
                <a:ea typeface="Noto Sans JP"/>
                <a:cs typeface="Noto Sans JP"/>
              </a:rPr>
              <a:t>受付にQRコードを置く／LINEで送る</a:t>
            </a:r>
          </a:p>
        </p:txBody>
      </p:sp>
      <p:sp>
        <p:nvSpPr>
          <p:cNvPr id="6" name="Rounded Rectangle 5"/>
          <p:cNvSpPr/>
          <p:nvPr/>
        </p:nvSpPr>
        <p:spPr>
          <a:xfrm>
            <a:off x="5669280" y="1883664"/>
            <a:ext cx="5861304" cy="2487168"/>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500" b="1" lang="ja-JP">
                <a:solidFill>
                  <a:srgbClr val="FFC20E"/>
                </a:solidFill>
                <a:latin typeface="Noto Sans JP"/>
                <a:ea typeface="Noto Sans JP"/>
                <a:cs typeface="Noto Sans JP"/>
              </a:rPr>
              <a:t>そのまま使える声かけ文例</a:t>
            </a:r>
          </a:p>
          <a:p>
            <a:pPr algn="l" eaLnBrk="1" hangingPunct="1">
              <a:lnSpc>
                <a:spcPct val="145000"/>
              </a:lnSpc>
            </a:pPr>
            <a:r>
              <a:rPr sz="1600" b="1" lang="ja-JP">
                <a:solidFill>
                  <a:srgbClr val="FFFFFF"/>
                </a:solidFill>
                <a:latin typeface="Noto Sans JP"/>
                <a:ea typeface="Noto Sans JP"/>
                <a:cs typeface="Noto Sans JP"/>
              </a:rPr>
              <a:t>「よくなってきて何よりです。もしよろしければ、同じ症状でお困りの方のために、Googleにひとことだけ感想をいただけませんか。30秒ほどで終わります。」</a:t>
            </a:r>
          </a:p>
        </p:txBody>
      </p:sp>
      <p:sp>
        <p:nvSpPr>
          <p:cNvPr id="7" name="Rounded Rectangle 6"/>
          <p:cNvSpPr/>
          <p:nvPr/>
        </p:nvSpPr>
        <p:spPr>
          <a:xfrm>
            <a:off x="658368" y="4590288"/>
            <a:ext cx="10874959" cy="786384"/>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Noto Sans JP"/>
                <a:ea typeface="Noto Sans JP"/>
                <a:cs typeface="Noto Sans JP"/>
              </a:rPr>
              <a:t>やってはいけない　</a:t>
            </a:r>
            <a:r>
              <a:rPr sz="1300" b="0" lang="ja-JP">
                <a:solidFill>
                  <a:srgbClr val="1F2735"/>
                </a:solidFill>
                <a:latin typeface="Noto Sans JP"/>
                <a:ea typeface="Noto Sans JP"/>
                <a:cs typeface="Noto Sans JP"/>
              </a:rPr>
              <a:t>割引や粗品と引き換えのお願い、口コミの購入。削除されるうえ、院の評価も下がります。</a:t>
            </a:r>
          </a:p>
        </p:txBody>
      </p:sp>
      <p:sp>
        <p:nvSpPr>
          <p:cNvPr id="8" name="Rounded Rectangle 7"/>
          <p:cNvSpPr/>
          <p:nvPr/>
        </p:nvSpPr>
        <p:spPr>
          <a:xfrm>
            <a:off x="658368" y="5577840"/>
            <a:ext cx="10874959" cy="713232"/>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500" b="1" lang="ja-JP">
                <a:solidFill>
                  <a:srgbClr val="1B3A6B"/>
                </a:solidFill>
                <a:latin typeface="Noto Sans JP"/>
                <a:ea typeface="Noto Sans JP"/>
                <a:cs typeface="Noto Sans JP"/>
              </a:rPr>
              <a:t>言い方より、渡すタイミングです。その場でQRコードをお見せするところまでやってください。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93852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Part3 ③　口コミ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返信は全件に。テンプレートは使わない</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16</a:t>
            </a:r>
          </a:p>
        </p:txBody>
      </p:sp>
      <p:sp>
        <p:nvSpPr>
          <p:cNvPr id="5" name="Rounded Rectangle 4"/>
          <p:cNvSpPr/>
          <p:nvPr/>
        </p:nvSpPr>
        <p:spPr>
          <a:xfrm>
            <a:off x="658368" y="1883664"/>
            <a:ext cx="4709160" cy="2615184"/>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Noto Sans JP"/>
                <a:ea typeface="Noto Sans JP"/>
                <a:cs typeface="Noto Sans JP"/>
              </a:rPr>
              <a:t>書き方のコツ</a:t>
            </a:r>
          </a:p>
          <a:p>
            <a:pPr algn="l" eaLnBrk="1" hangingPunct="1">
              <a:lnSpc>
                <a:spcPct val="130000"/>
              </a:lnSpc>
              <a:spcAft>
                <a:spcPts val="800"/>
              </a:spcAft>
            </a:pPr>
            <a:r>
              <a:rPr sz="1400" b="0" lang="ja-JP">
                <a:solidFill>
                  <a:srgbClr val="1F2735"/>
                </a:solidFill>
                <a:latin typeface="Noto Sans JP"/>
                <a:ea typeface="Noto Sans JP"/>
                <a:cs typeface="Noto Sans JP"/>
              </a:rPr>
              <a:t>その方が書いていた言葉を、ひとつ拾って入れる</a:t>
            </a:r>
          </a:p>
          <a:p>
            <a:pPr algn="l" eaLnBrk="1" hangingPunct="1">
              <a:lnSpc>
                <a:spcPct val="130000"/>
              </a:lnSpc>
              <a:spcAft>
                <a:spcPts val="800"/>
              </a:spcAft>
            </a:pPr>
            <a:r>
              <a:rPr sz="1400" b="0" lang="ja-JP">
                <a:solidFill>
                  <a:srgbClr val="1F2735"/>
                </a:solidFill>
                <a:latin typeface="Noto Sans JP"/>
                <a:ea typeface="Noto Sans JP"/>
                <a:cs typeface="Noto Sans JP"/>
              </a:rPr>
              <a:t>お名前や症状の詳細は書かない（個人情報です）</a:t>
            </a:r>
          </a:p>
          <a:p>
            <a:pPr algn="l" eaLnBrk="1" hangingPunct="1">
              <a:lnSpc>
                <a:spcPct val="130000"/>
              </a:lnSpc>
              <a:spcAft>
                <a:spcPts val="800"/>
              </a:spcAft>
            </a:pPr>
            <a:r>
              <a:rPr sz="1400" b="0" lang="ja-JP">
                <a:solidFill>
                  <a:srgbClr val="1F2735"/>
                </a:solidFill>
                <a:latin typeface="Noto Sans JP"/>
                <a:ea typeface="Noto Sans JP"/>
                <a:cs typeface="Noto Sans JP"/>
              </a:rPr>
              <a:t>「ありがとうございました」だけで終わらせない</a:t>
            </a:r>
          </a:p>
          <a:p>
            <a:pPr algn="l" eaLnBrk="1" hangingPunct="1">
              <a:lnSpc>
                <a:spcPct val="130000"/>
              </a:lnSpc>
            </a:pPr>
            <a:r>
              <a:rPr sz="1400" b="0" lang="ja-JP">
                <a:solidFill>
                  <a:srgbClr val="1F2735"/>
                </a:solidFill>
                <a:latin typeface="Noto Sans JP"/>
                <a:ea typeface="Noto Sans JP"/>
                <a:cs typeface="Noto Sans JP"/>
              </a:rPr>
              <a:t>同じ文面のコピーは、読めば分かってしまいます</a:t>
            </a:r>
          </a:p>
        </p:txBody>
      </p:sp>
      <p:sp>
        <p:nvSpPr>
          <p:cNvPr id="6" name="Rounded Rectangle 5"/>
          <p:cNvSpPr/>
          <p:nvPr/>
        </p:nvSpPr>
        <p:spPr>
          <a:xfrm>
            <a:off x="5669280" y="1883664"/>
            <a:ext cx="5861304" cy="2615184"/>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500" b="1" lang="ja-JP">
                <a:solidFill>
                  <a:srgbClr val="FFC20E"/>
                </a:solidFill>
                <a:latin typeface="Noto Sans JP"/>
                <a:ea typeface="Noto Sans JP"/>
                <a:cs typeface="Noto Sans JP"/>
              </a:rPr>
              <a:t>低い評価がついたときの返信例</a:t>
            </a:r>
          </a:p>
          <a:p>
            <a:pPr algn="l" eaLnBrk="1" hangingPunct="1">
              <a:lnSpc>
                <a:spcPct val="145000"/>
              </a:lnSpc>
            </a:pPr>
            <a:r>
              <a:rPr sz="1500" b="1" lang="ja-JP">
                <a:solidFill>
                  <a:srgbClr val="FFFFFF"/>
                </a:solidFill>
                <a:latin typeface="Noto Sans JP"/>
                <a:ea typeface="Noto Sans JP"/>
                <a:cs typeface="Noto Sans JP"/>
              </a:rPr>
              <a:t>「このたびはご不快な思いをさせてしまい、申し訳ございません。お待たせしてしまった点について、予約の取り方を院内で見直しました。次にお越しの際は、受付にお気づきの点をお聞かせください。」</a:t>
            </a:r>
          </a:p>
        </p:txBody>
      </p:sp>
      <p:sp>
        <p:nvSpPr>
          <p:cNvPr id="7" name="Rounded Rectangle 6"/>
          <p:cNvSpPr/>
          <p:nvPr/>
        </p:nvSpPr>
        <p:spPr>
          <a:xfrm>
            <a:off x="658368" y="4718304"/>
            <a:ext cx="10874959" cy="1225296"/>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900" b="1" lang="ja-JP">
                <a:solidFill>
                  <a:srgbClr val="E8380D"/>
                </a:solidFill>
                <a:latin typeface="Noto Sans JP"/>
                <a:ea typeface="Noto Sans JP"/>
                <a:cs typeface="Noto Sans JP"/>
              </a:rPr>
              <a:t>反論しない。言い訳しない。</a:t>
            </a:r>
          </a:p>
          <a:p>
            <a:pPr algn="l" eaLnBrk="1" hangingPunct="1">
              <a:lnSpc>
                <a:spcPct val="130000"/>
              </a:lnSpc>
            </a:pPr>
            <a:r>
              <a:rPr sz="1500" b="0" lang="ja-JP">
                <a:solidFill>
                  <a:srgbClr val="1F2735"/>
                </a:solidFill>
                <a:latin typeface="Noto Sans JP"/>
                <a:ea typeface="Noto Sans JP"/>
                <a:cs typeface="Noto Sans JP"/>
              </a:rPr>
              <a:t>返信は、書いた方だけでなく、これから読む患者様に向けて書きます。誠実な返信は、低い評価そのものより信頼されます。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768096"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まとめ</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明日、この3つだけやってください</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17</a:t>
            </a:r>
          </a:p>
        </p:txBody>
      </p:sp>
      <p:sp>
        <p:nvSpPr>
          <p:cNvPr id="5" name="Oval 4"/>
          <p:cNvSpPr/>
          <p:nvPr/>
        </p:nvSpPr>
        <p:spPr>
          <a:xfrm>
            <a:off x="658368" y="2121408"/>
            <a:ext cx="658368" cy="65836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2800" b="1" lang="ja-JP">
                <a:solidFill>
                  <a:srgbClr val="102445"/>
                </a:solidFill>
                <a:latin typeface="Noto Sans JP"/>
                <a:ea typeface="Noto Sans JP"/>
                <a:cs typeface="Noto Sans JP"/>
              </a:rPr>
              <a:t>1</a:t>
            </a:r>
          </a:p>
        </p:txBody>
      </p:sp>
      <p:sp>
        <p:nvSpPr>
          <p:cNvPr id="6" name="Rounded Rectangle 5"/>
          <p:cNvSpPr/>
          <p:nvPr/>
        </p:nvSpPr>
        <p:spPr>
          <a:xfrm>
            <a:off x="1517904" y="1956816"/>
            <a:ext cx="10015423" cy="969264"/>
          </a:xfrm>
          <a:prstGeom prst="roundRect">
            <a:avLst>
              <a:gd name="adj" fmla="val 10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900" b="1" lang="ja-JP">
                <a:solidFill>
                  <a:srgbClr val="1B3A6B"/>
                </a:solidFill>
                <a:latin typeface="Noto Sans JP"/>
                <a:ea typeface="Noto Sans JP"/>
                <a:cs typeface="Noto Sans JP"/>
              </a:rPr>
              <a:t>オーナー確認</a:t>
            </a:r>
          </a:p>
          <a:p>
            <a:pPr algn="l" eaLnBrk="1" hangingPunct="1">
              <a:lnSpc>
                <a:spcPct val="125000"/>
              </a:lnSpc>
            </a:pPr>
            <a:r>
              <a:rPr sz="1400" b="0" lang="ja-JP">
                <a:solidFill>
                  <a:srgbClr val="1F2735"/>
                </a:solidFill>
                <a:latin typeface="Noto Sans JP"/>
                <a:ea typeface="Noto Sans JP"/>
                <a:cs typeface="Noto Sans JP"/>
              </a:rPr>
              <a:t>できているかを確かめる。まだなら、今日ここから始めてください。</a:t>
            </a:r>
          </a:p>
        </p:txBody>
      </p:sp>
      <p:sp>
        <p:nvSpPr>
          <p:cNvPr id="7" name="Oval 6"/>
          <p:cNvSpPr/>
          <p:nvPr/>
        </p:nvSpPr>
        <p:spPr>
          <a:xfrm>
            <a:off x="658368" y="3328416"/>
            <a:ext cx="658368" cy="65836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2800" b="1" lang="ja-JP">
                <a:solidFill>
                  <a:srgbClr val="102445"/>
                </a:solidFill>
                <a:latin typeface="Noto Sans JP"/>
                <a:ea typeface="Noto Sans JP"/>
                <a:cs typeface="Noto Sans JP"/>
              </a:rPr>
              <a:t>2</a:t>
            </a:r>
          </a:p>
        </p:txBody>
      </p:sp>
      <p:sp>
        <p:nvSpPr>
          <p:cNvPr id="8" name="Rounded Rectangle 7"/>
          <p:cNvSpPr/>
          <p:nvPr/>
        </p:nvSpPr>
        <p:spPr>
          <a:xfrm>
            <a:off x="1517904" y="3163824"/>
            <a:ext cx="10015423" cy="969264"/>
          </a:xfrm>
          <a:prstGeom prst="roundRect">
            <a:avLst>
              <a:gd name="adj" fmla="val 10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900" b="1" lang="ja-JP">
                <a:solidFill>
                  <a:srgbClr val="1B3A6B"/>
                </a:solidFill>
                <a:latin typeface="Noto Sans JP"/>
                <a:ea typeface="Noto Sans JP"/>
                <a:cs typeface="Noto Sans JP"/>
              </a:rPr>
              <a:t>写真をそろえる</a:t>
            </a:r>
          </a:p>
          <a:p>
            <a:pPr algn="l" eaLnBrk="1" hangingPunct="1">
              <a:lnSpc>
                <a:spcPct val="125000"/>
              </a:lnSpc>
            </a:pPr>
            <a:r>
              <a:rPr sz="1400" b="0" lang="ja-JP">
                <a:solidFill>
                  <a:srgbClr val="1F2735"/>
                </a:solidFill>
                <a:latin typeface="Noto Sans JP"/>
                <a:ea typeface="Noto Sans JP"/>
                <a:cs typeface="Noto Sans JP"/>
              </a:rPr>
              <a:t>外観・入口・受付・施術スペース・スタッフ・駐車場。スマホで十分です。</a:t>
            </a:r>
          </a:p>
        </p:txBody>
      </p:sp>
      <p:sp>
        <p:nvSpPr>
          <p:cNvPr id="9" name="Oval 8"/>
          <p:cNvSpPr/>
          <p:nvPr/>
        </p:nvSpPr>
        <p:spPr>
          <a:xfrm>
            <a:off x="658368" y="4535424"/>
            <a:ext cx="658368" cy="65836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2800" b="1" lang="ja-JP">
                <a:solidFill>
                  <a:srgbClr val="102445"/>
                </a:solidFill>
                <a:latin typeface="Noto Sans JP"/>
                <a:ea typeface="Noto Sans JP"/>
                <a:cs typeface="Noto Sans JP"/>
              </a:rPr>
              <a:t>3</a:t>
            </a:r>
          </a:p>
        </p:txBody>
      </p:sp>
      <p:sp>
        <p:nvSpPr>
          <p:cNvPr id="10" name="Rounded Rectangle 9"/>
          <p:cNvSpPr/>
          <p:nvPr/>
        </p:nvSpPr>
        <p:spPr>
          <a:xfrm>
            <a:off x="1517904" y="4370832"/>
            <a:ext cx="10015423" cy="969264"/>
          </a:xfrm>
          <a:prstGeom prst="roundRect">
            <a:avLst>
              <a:gd name="adj" fmla="val 10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900" b="1" lang="ja-JP">
                <a:solidFill>
                  <a:srgbClr val="1B3A6B"/>
                </a:solidFill>
                <a:latin typeface="Noto Sans JP"/>
                <a:ea typeface="Noto Sans JP"/>
                <a:cs typeface="Noto Sans JP"/>
              </a:rPr>
              <a:t>口コミの声かけ</a:t>
            </a:r>
          </a:p>
          <a:p>
            <a:pPr algn="l" eaLnBrk="1" hangingPunct="1">
              <a:lnSpc>
                <a:spcPct val="125000"/>
              </a:lnSpc>
            </a:pPr>
            <a:r>
              <a:rPr sz="1400" b="0" lang="ja-JP">
                <a:solidFill>
                  <a:srgbClr val="1F2735"/>
                </a:solidFill>
                <a:latin typeface="Noto Sans JP"/>
                <a:ea typeface="Noto Sans JP"/>
                <a:cs typeface="Noto Sans JP"/>
              </a:rPr>
              <a:t>まずは、おひとりに試してみる。QRコードを受付に置いておく。</a:t>
            </a:r>
          </a:p>
        </p:txBody>
      </p:sp>
      <p:sp>
        <p:nvSpPr>
          <p:cNvPr id="11" name="Rounded Rectangle 10"/>
          <p:cNvSpPr/>
          <p:nvPr/>
        </p:nvSpPr>
        <p:spPr>
          <a:xfrm>
            <a:off x="658368" y="5614416"/>
            <a:ext cx="10874959" cy="749808"/>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600" b="1" lang="ja-JP">
                <a:solidFill>
                  <a:srgbClr val="1B3A6B"/>
                </a:solidFill>
                <a:latin typeface="Noto Sans JP"/>
                <a:ea typeface="Noto Sans JP"/>
                <a:cs typeface="Noto Sans JP"/>
              </a:rPr>
              <a:t>全部やろうとすると止まります。上から順に、ひとつずつで大丈夫です。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768096"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Noto Sans JP"/>
                <a:ea typeface="Noto Sans JP"/>
                <a:cs typeface="Noto Sans JP"/>
              </a:rPr>
              <a:t>まとめ</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Noto Sans JP"/>
                <a:ea typeface="Noto Sans JP"/>
                <a:cs typeface="Noto Sans JP"/>
              </a:rPr>
              <a:t>続きは、チェックリストと個別相談で</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Noto Sans JP"/>
                <a:ea typeface="Noto Sans JP"/>
                <a:cs typeface="Noto Sans JP"/>
              </a:rPr>
              <a:t>18</a:t>
            </a:r>
          </a:p>
        </p:txBody>
      </p:sp>
      <p:sp>
        <p:nvSpPr>
          <p:cNvPr id="5" name="Rounded Rectangle 4"/>
          <p:cNvSpPr/>
          <p:nvPr/>
        </p:nvSpPr>
        <p:spPr>
          <a:xfrm>
            <a:off x="658368" y="1883664"/>
            <a:ext cx="5285232" cy="283464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Noto Sans JP"/>
                <a:ea typeface="Noto Sans JP"/>
                <a:cs typeface="Noto Sans JP"/>
              </a:rPr>
              <a:t>本日のチェックリスト（配布します）</a:t>
            </a:r>
          </a:p>
          <a:p>
            <a:pPr algn="l" eaLnBrk="1" hangingPunct="1">
              <a:lnSpc>
                <a:spcPct val="130000"/>
              </a:lnSpc>
              <a:spcAft>
                <a:spcPts val="1200"/>
              </a:spcAft>
            </a:pPr>
            <a:r>
              <a:rPr sz="1400" b="0" lang="ja-JP">
                <a:solidFill>
                  <a:srgbClr val="1F2735"/>
                </a:solidFill>
                <a:latin typeface="Noto Sans JP"/>
                <a:ea typeface="Noto Sans JP"/>
                <a:cs typeface="Noto Sans JP"/>
              </a:rPr>
              <a:t>今日の内容を、上から順にたどれる形にまとめました。</a:t>
            </a:r>
          </a:p>
          <a:p>
            <a:pPr algn="l" eaLnBrk="1" hangingPunct="1">
              <a:lnSpc>
                <a:spcPct val="130000"/>
              </a:lnSpc>
              <a:spcAft>
                <a:spcPts val="800"/>
              </a:spcAft>
            </a:pPr>
            <a:r>
              <a:rPr sz="1400" b="1" lang="ja-JP">
                <a:solidFill>
                  <a:srgbClr val="1B3A6B"/>
                </a:solidFill>
                <a:latin typeface="Noto Sans JP"/>
                <a:ea typeface="Noto Sans JP"/>
                <a:cs typeface="Noto Sans JP"/>
              </a:rPr>
              <a:t>今日ふれなかった項目も、こちらに記載しています</a:t>
            </a:r>
          </a:p>
          <a:p>
            <a:pPr algn="l" eaLnBrk="1" hangingPunct="1">
              <a:lnSpc>
                <a:spcPct val="135000"/>
              </a:lnSpc>
            </a:pPr>
            <a:r>
              <a:rPr sz="1300" b="0" lang="ja-JP">
                <a:solidFill>
                  <a:srgbClr val="6B7587"/>
                </a:solidFill>
                <a:latin typeface="Noto Sans JP"/>
                <a:ea typeface="Noto Sans JP"/>
                <a:cs typeface="Noto Sans JP"/>
              </a:rPr>
              <a:t>投稿（お知らせ）機能の使い方／閲覧数の見方／月ごとの進め方／メニュー・料金の載せ方</a:t>
            </a:r>
          </a:p>
        </p:txBody>
      </p:sp>
      <p:sp>
        <p:nvSpPr>
          <p:cNvPr id="6" name="Rounded Rectangle 5"/>
          <p:cNvSpPr/>
          <p:nvPr/>
        </p:nvSpPr>
        <p:spPr>
          <a:xfrm>
            <a:off x="6245352" y="1883664"/>
            <a:ext cx="5285232" cy="283464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FFC20E"/>
                </a:solidFill>
                <a:latin typeface="Noto Sans JP"/>
                <a:ea typeface="Noto Sans JP"/>
                <a:cs typeface="Noto Sans JP"/>
              </a:rPr>
              <a:t>個別相談（無料・オンライン）</a:t>
            </a:r>
          </a:p>
          <a:p>
            <a:pPr algn="l" eaLnBrk="1" hangingPunct="1">
              <a:lnSpc>
                <a:spcPct val="135000"/>
              </a:lnSpc>
              <a:spcAft>
                <a:spcPts val="1000"/>
              </a:spcAft>
            </a:pPr>
            <a:r>
              <a:rPr sz="1400" b="0" lang="ja-JP">
                <a:solidFill>
                  <a:srgbClr val="FFFFFF"/>
                </a:solidFill>
                <a:latin typeface="Noto Sans JP"/>
                <a:ea typeface="Noto Sans JP"/>
                <a:cs typeface="Noto Sans JP"/>
              </a:rPr>
              <a:t>貴院のページを一緒に開いて、いま直すべき点を優先順位をつけてお伝えします。</a:t>
            </a:r>
          </a:p>
          <a:p>
            <a:pPr algn="l" eaLnBrk="1" hangingPunct="1">
              <a:lnSpc>
                <a:spcPct val="135000"/>
              </a:lnSpc>
            </a:pPr>
            <a:r>
              <a:rPr sz="1400" b="0" lang="ja-JP">
                <a:solidFill>
                  <a:srgbClr val="FFFFFF"/>
                </a:solidFill>
                <a:latin typeface="Noto Sans JP"/>
                <a:ea typeface="Noto Sans JP"/>
                <a:cs typeface="Noto Sans JP"/>
              </a:rPr>
              <a:t>毎月の更新までお任せいただける月額プランのご案内も、こちらでさせていただきます。</a:t>
            </a:r>
          </a:p>
        </p:txBody>
      </p:sp>
      <p:sp>
        <p:nvSpPr>
          <p:cNvPr id="7" name="Rounded Rectangle 6"/>
          <p:cNvSpPr/>
          <p:nvPr/>
        </p:nvSpPr>
        <p:spPr>
          <a:xfrm>
            <a:off x="658368" y="4901184"/>
            <a:ext cx="7589520" cy="1316736"/>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23845" bIns="223845"/>
          <a:lstStyle/>
          <a:p>
            <a:pPr algn="l" eaLnBrk="1" hangingPunct="1">
              <a:lnSpc>
                <a:spcPct val="120000"/>
              </a:lnSpc>
              <a:spcAft>
                <a:spcPts val="400"/>
              </a:spcAft>
            </a:pPr>
            <a:r>
              <a:rPr sz="1400" b="1" lang="ja-JP">
                <a:solidFill>
                  <a:srgbClr val="1B3A6B"/>
                </a:solidFill>
                <a:latin typeface="Noto Sans JP"/>
                <a:ea typeface="Noto Sans JP"/>
                <a:cs typeface="Noto Sans JP"/>
              </a:rPr>
              <a:t>このあとのアンケートで</a:t>
            </a:r>
          </a:p>
          <a:p>
            <a:pPr algn="l" eaLnBrk="1" hangingPunct="1">
              <a:lnSpc>
                <a:spcPct val="125000"/>
              </a:lnSpc>
            </a:pPr>
            <a:r>
              <a:rPr sz="2100" b="1" lang="ja-JP">
                <a:solidFill>
                  <a:srgbClr val="1B3A6B"/>
                </a:solidFill>
                <a:latin typeface="Noto Sans JP"/>
                <a:ea typeface="Noto Sans JP"/>
                <a:cs typeface="Noto Sans JP"/>
              </a:rPr>
              <a:t>「個別相談を希望する」にチェックしてください。</a:t>
            </a:r>
          </a:p>
        </p:txBody>
      </p:sp>
      <p:sp>
        <p:nvSpPr>
          <p:cNvPr id="8" name="Rounded Rectangle 7"/>
          <p:cNvSpPr/>
          <p:nvPr/>
        </p:nvSpPr>
        <p:spPr>
          <a:xfrm>
            <a:off x="8558784" y="4901184"/>
            <a:ext cx="2971800" cy="1316736"/>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Noto Sans JP"/>
                <a:ea typeface="Noto Sans JP"/>
                <a:cs typeface="Noto Sans JP"/>
              </a:rPr>
              <a:t>［画像］</a:t>
            </a:r>
          </a:p>
          <a:p>
            <a:pPr algn="ctr" eaLnBrk="1" hangingPunct="1">
              <a:lnSpc>
                <a:spcPct val="130000"/>
              </a:lnSpc>
            </a:pPr>
            <a:r>
              <a:rPr sz="1200" b="1" lang="ja-JP">
                <a:solidFill>
                  <a:srgbClr val="1B3A6B"/>
                </a:solidFill>
                <a:latin typeface="Noto Sans JP"/>
                <a:ea typeface="Noto Sans JP"/>
                <a:cs typeface="Noto Sans JP"/>
              </a:rPr>
              <a:t>QRコード</a:t>
            </a:r>
          </a:p>
          <a:p>
            <a:pPr algn="ctr" eaLnBrk="1" hangingPunct="1">
              <a:lnSpc>
                <a:spcPct val="130000"/>
              </a:lnSpc>
            </a:pPr>
            <a:r>
              <a:rPr sz="1000" b="0" lang="ja-JP">
                <a:solidFill>
                  <a:srgbClr val="6B7587"/>
                </a:solidFill>
                <a:latin typeface="Noto Sans JP"/>
                <a:ea typeface="Noto Sans JP"/>
                <a:cs typeface="Noto Sans JP"/>
              </a:rPr>
              <a:t>個別相談 申込フォーム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